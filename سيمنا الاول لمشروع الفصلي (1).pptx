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84" r:id="rId1"/>
  </p:sldMasterIdLst>
  <p:notesMasterIdLst>
    <p:notesMasterId r:id="rId19"/>
  </p:notesMasterIdLst>
  <p:sldIdLst>
    <p:sldId id="260" r:id="rId2"/>
    <p:sldId id="337" r:id="rId3"/>
    <p:sldId id="338" r:id="rId4"/>
    <p:sldId id="339" r:id="rId5"/>
    <p:sldId id="343" r:id="rId6"/>
    <p:sldId id="352" r:id="rId7"/>
    <p:sldId id="353" r:id="rId8"/>
    <p:sldId id="362" r:id="rId9"/>
    <p:sldId id="360" r:id="rId10"/>
    <p:sldId id="361" r:id="rId11"/>
    <p:sldId id="342" r:id="rId12"/>
    <p:sldId id="358" r:id="rId13"/>
    <p:sldId id="359" r:id="rId14"/>
    <p:sldId id="355" r:id="rId15"/>
    <p:sldId id="357" r:id="rId16"/>
    <p:sldId id="344" r:id="rId17"/>
    <p:sldId id="34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نمط فاتح 1 - تميي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نمط متوسط 1 - تميي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نمط متوسط 3 - تميي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5" autoAdjust="0"/>
    <p:restoredTop sz="91412" autoAdjust="0"/>
  </p:normalViewPr>
  <p:slideViewPr>
    <p:cSldViewPr>
      <p:cViewPr varScale="1">
        <p:scale>
          <a:sx n="71" d="100"/>
          <a:sy n="71" d="100"/>
        </p:scale>
        <p:origin x="1050" y="60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241E1-6AE0-4C2C-ACCA-30F045F3433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05B48E-7FF5-4422-B2C8-8CB36B8BB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56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5B48E-7FF5-4422-B2C8-8CB36B8BB9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90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43921-A48B-C0C5-D802-EA1A24BC3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789208-5861-26F0-13D2-527047107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4EBD3-28CF-413F-BD7A-6B8D02D1E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1" u="none" strike="noStrike" dirty="0">
                <a:effectLst/>
                <a:latin typeface="+mn-lt"/>
              </a:rPr>
              <a:t>* Audio Chunks</a:t>
            </a:r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47476-0856-3A39-2DB1-457C85FA0C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5B48E-7FF5-4422-B2C8-8CB36B8BB9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54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E7B80-7440-293B-82F0-A5FB1DFC5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02319D-15EF-585F-60AB-A82F98B20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D0FCD-3254-013A-7D8A-5A337CDA0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2E354-1791-74C5-587F-0B6E39CCF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5B48E-7FF5-4422-B2C8-8CB36B8BB9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66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C79BF-5F58-CC3D-7861-97534B1D0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66666-0896-0268-9C7C-AE13B4D50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46570-02DE-3E12-3CA2-16E7FD556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B68EB6-9A7A-57FB-DB92-0DB80E2CF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5B48E-7FF5-4422-B2C8-8CB36B8BB9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454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67E1-A0A7-C9CD-5866-1098C54D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3ACDB-6D9B-EEA0-71F1-85CFAFF46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0C517-4B14-7B8A-0199-B3A7F1089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23BBC-4DD8-A240-0323-FA7FFEBA7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5B48E-7FF5-4422-B2C8-8CB36B8BB9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8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86084-6E6E-6842-1F0E-8A4B340B6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B7975-7447-BB13-1C87-93E226E49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9A65F-CAA0-8DA0-0099-3159115D8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F81C7-0944-2F16-066C-9E1CEA1E6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5B48E-7FF5-4422-B2C8-8CB36B8BB9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51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27162-43B5-6C08-E78E-1E691B99E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A6642-CCEB-78E6-0A01-E23726448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B0762B-3505-C57D-86CF-1201246CB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6C95B-441E-0748-55CC-32A97BA7E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5B48E-7FF5-4422-B2C8-8CB36B8BB9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83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AB20E-E0E3-E520-850C-21CFB7CDB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B3F953-7F0F-E36D-DEC3-40D0FADB4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C8D02-5ECA-CC5B-507A-F71A91843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8C561-ACDC-450C-1258-D013FBD7E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5B48E-7FF5-4422-B2C8-8CB36B8BB9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81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36D53-C5E6-BD31-470C-0B795665E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001B7-3352-876E-1AE2-E29FE1C50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57C03-95B6-B169-40CC-6EFEC8313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648B3-0174-A198-C332-F93531A94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5B48E-7FF5-4422-B2C8-8CB36B8BB9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99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27F5C-70A1-6769-9E5A-52BB84423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50153-B876-FDA8-E95A-B50DB1EAD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7E0AD-F1AE-E085-47FB-3E2753D69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C7C6E-7322-3970-19C7-302B3090C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5B48E-7FF5-4422-B2C8-8CB36B8BB9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25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6244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3380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2673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2336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8800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7951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0882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3124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4726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73587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8FE8-0B95-4199-9F53-933912788E94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8201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68FE8-0B95-4199-9F53-933912788E94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9637A-11D4-42A0-937C-45FCD8DF8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9923169-4894-430F-895C-ACA33E27E5B4}"/>
              </a:ext>
            </a:extLst>
          </p:cNvPr>
          <p:cNvSpPr txBox="1">
            <a:spLocks/>
          </p:cNvSpPr>
          <p:nvPr/>
        </p:nvSpPr>
        <p:spPr>
          <a:xfrm>
            <a:off x="2056210" y="532229"/>
            <a:ext cx="6686549" cy="43975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endParaRPr lang="en-US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8C6405-EE9C-4B4A-AD7B-C01C58FE2E89}"/>
              </a:ext>
            </a:extLst>
          </p:cNvPr>
          <p:cNvSpPr txBox="1">
            <a:spLocks/>
          </p:cNvSpPr>
          <p:nvPr/>
        </p:nvSpPr>
        <p:spPr>
          <a:xfrm>
            <a:off x="2284810" y="837029"/>
            <a:ext cx="6686549" cy="43975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endParaRPr lang="en-US" dirty="0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73C597-D489-4F54-A946-1B20191A68FA}"/>
              </a:ext>
            </a:extLst>
          </p:cNvPr>
          <p:cNvSpPr txBox="1"/>
          <p:nvPr/>
        </p:nvSpPr>
        <p:spPr>
          <a:xfrm>
            <a:off x="5748211" y="233935"/>
            <a:ext cx="32231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800" b="1" dirty="0">
                <a:solidFill>
                  <a:srgbClr val="002060"/>
                </a:solidFill>
                <a:effectLst/>
                <a:ea typeface="Simplified Arabic" panose="02020603050405020304" pitchFamily="18" charset="-78"/>
                <a:cs typeface="Simplified Arabic" panose="02020603050405020304" pitchFamily="18" charset="-78"/>
              </a:rPr>
              <a:t>الجمهورية العربية السورية</a:t>
            </a:r>
            <a:endParaRPr lang="ar-SY" sz="1800" b="1" dirty="0">
              <a:solidFill>
                <a:srgbClr val="002060"/>
              </a:solidFill>
              <a:effectLst/>
              <a:ea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Y" b="1" dirty="0">
                <a:solidFill>
                  <a:srgbClr val="002060"/>
                </a:solidFill>
                <a:ea typeface="Simplified Arabic" panose="02020603050405020304" pitchFamily="18" charset="-78"/>
                <a:cs typeface="Simplified Arabic" panose="02020603050405020304" pitchFamily="18" charset="-78"/>
              </a:rPr>
              <a:t>وزارة التعليم العالي والبحث العلمي</a:t>
            </a:r>
            <a:r>
              <a:rPr lang="ar-SA" sz="1800" b="1" dirty="0">
                <a:solidFill>
                  <a:srgbClr val="002060"/>
                </a:solidFill>
                <a:effectLst/>
                <a:ea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br>
              <a:rPr lang="ar-SA" sz="1800" b="1" dirty="0">
                <a:solidFill>
                  <a:srgbClr val="002060"/>
                </a:solidFill>
                <a:effectLst/>
                <a:ea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Y" sz="1800" b="1" dirty="0">
                <a:solidFill>
                  <a:srgbClr val="002060"/>
                </a:solidFill>
                <a:effectLst/>
                <a:ea typeface="Simplified Arabic" panose="02020603050405020304" pitchFamily="18" charset="-78"/>
                <a:cs typeface="Simplified Arabic" panose="02020603050405020304" pitchFamily="18" charset="-78"/>
              </a:rPr>
              <a:t>ال</a:t>
            </a:r>
            <a:r>
              <a:rPr lang="ar-SA" sz="1800" b="1" dirty="0">
                <a:solidFill>
                  <a:srgbClr val="002060"/>
                </a:solidFill>
                <a:effectLst/>
                <a:ea typeface="Simplified Arabic" panose="02020603050405020304" pitchFamily="18" charset="-78"/>
                <a:cs typeface="Simplified Arabic" panose="02020603050405020304" pitchFamily="18" charset="-78"/>
              </a:rPr>
              <a:t>جامعة </a:t>
            </a:r>
            <a:r>
              <a:rPr lang="ar-SY" sz="1800" b="1" dirty="0">
                <a:solidFill>
                  <a:srgbClr val="002060"/>
                </a:solidFill>
                <a:effectLst/>
                <a:ea typeface="Simplified Arabic" panose="02020603050405020304" pitchFamily="18" charset="-78"/>
                <a:cs typeface="Simplified Arabic" panose="02020603050405020304" pitchFamily="18" charset="-78"/>
              </a:rPr>
              <a:t>السورية الخاصة</a:t>
            </a:r>
            <a:endParaRPr lang="en-US" sz="1800" b="1" dirty="0">
              <a:solidFill>
                <a:srgbClr val="002060"/>
              </a:solidFill>
              <a:effectLst/>
              <a:ea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A" b="1" dirty="0">
                <a:solidFill>
                  <a:srgbClr val="002060"/>
                </a:solidFill>
                <a:ea typeface="Simplified Arabic" panose="02020603050405020304" pitchFamily="18" charset="-78"/>
                <a:cs typeface="Simplified Arabic" panose="02020603050405020304" pitchFamily="18" charset="-78"/>
              </a:rPr>
              <a:t>كلية هندسة</a:t>
            </a:r>
            <a:r>
              <a:rPr lang="ar-SY" b="1" dirty="0">
                <a:solidFill>
                  <a:srgbClr val="002060"/>
                </a:solidFill>
                <a:ea typeface="Simplified Arabic" panose="02020603050405020304" pitchFamily="18" charset="-78"/>
                <a:cs typeface="Simplified Arabic" panose="02020603050405020304" pitchFamily="18" charset="-78"/>
              </a:rPr>
              <a:t> الذكاء الاصطناعي</a:t>
            </a:r>
            <a:br>
              <a:rPr lang="ar-SA" b="1" dirty="0">
                <a:solidFill>
                  <a:srgbClr val="002060"/>
                </a:solidFill>
                <a:ea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b="1" dirty="0">
                <a:solidFill>
                  <a:srgbClr val="002060"/>
                </a:solidFill>
                <a:ea typeface="Simplified Arabic" panose="02020603050405020304" pitchFamily="18" charset="-78"/>
                <a:cs typeface="Simplified Arabic" panose="02020603050405020304" pitchFamily="18" charset="-78"/>
              </a:rPr>
              <a:t>قسم هندسة الاتصالات </a:t>
            </a:r>
            <a:r>
              <a:rPr lang="ar-SY" b="1" dirty="0">
                <a:solidFill>
                  <a:srgbClr val="002060"/>
                </a:solidFill>
                <a:ea typeface="Simplified Arabic" panose="02020603050405020304" pitchFamily="18" charset="-78"/>
                <a:cs typeface="Simplified Arabic" panose="02020603050405020304" pitchFamily="18" charset="-78"/>
              </a:rPr>
              <a:t>الذكية</a:t>
            </a:r>
            <a:endParaRPr lang="en-US" b="1" dirty="0">
              <a:solidFill>
                <a:srgbClr val="002060"/>
              </a:solidFill>
              <a:uFill>
                <a:solidFill>
                  <a:srgbClr val="000000"/>
                </a:solidFill>
              </a:uFill>
              <a:latin typeface="Calibri" panose="020F0502020204030204" pitchFamily="34" charset="0"/>
              <a:cs typeface="Simplified Arabic" panose="02020603050405020304" pitchFamily="18" charset="-78"/>
            </a:endParaRPr>
          </a:p>
          <a:p>
            <a:pPr algn="r" rtl="1"/>
            <a:endParaRPr lang="en-US" sz="1800" b="1" dirty="0">
              <a:solidFill>
                <a:srgbClr val="002060"/>
              </a:solidFill>
              <a:effectLst/>
              <a:ea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78C2F2-2A97-4088-874B-3666F5180861}"/>
              </a:ext>
            </a:extLst>
          </p:cNvPr>
          <p:cNvSpPr txBox="1"/>
          <p:nvPr/>
        </p:nvSpPr>
        <p:spPr>
          <a:xfrm>
            <a:off x="107243" y="1856601"/>
            <a:ext cx="8791847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rtl="1">
              <a:defRPr/>
            </a:pPr>
            <a:r>
              <a:rPr lang="ar-AE" b="1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سم</a:t>
            </a:r>
            <a:r>
              <a:rPr lang="ar-SY" b="1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ي</a:t>
            </a:r>
            <a:r>
              <a:rPr lang="ar-AE" b="1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نار </a:t>
            </a:r>
            <a:r>
              <a:rPr lang="ar-SY" b="1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مرحلي أول</a:t>
            </a:r>
            <a:r>
              <a:rPr lang="ar-AE" b="1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 </a:t>
            </a:r>
            <a:r>
              <a:rPr lang="ar-SY" b="1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- في </a:t>
            </a:r>
            <a:r>
              <a:rPr lang="ar-SY" b="1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هندسة</a:t>
            </a:r>
            <a:r>
              <a:rPr lang="ar-SA" b="1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ar-SY" b="1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الاتصالات </a:t>
            </a:r>
            <a:r>
              <a:rPr lang="ar-SA" b="1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بعنوان:</a:t>
            </a:r>
            <a:endParaRPr lang="ar-SY" b="1" dirty="0"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Simplified Arabic" panose="02020603050405020304" pitchFamily="18" charset="-78"/>
            </a:endParaRPr>
          </a:p>
          <a:p>
            <a:pPr algn="ctr" defTabSz="457200" rtl="1">
              <a:lnSpc>
                <a:spcPct val="100000"/>
              </a:lnSpc>
              <a:spcAft>
                <a:spcPts val="0"/>
              </a:spcAft>
              <a:defRPr/>
            </a:pPr>
            <a:endParaRPr lang="ar-SY" b="1" dirty="0"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Simplified Arabic" panose="02020603050405020304" pitchFamily="18" charset="-78"/>
            </a:endParaRPr>
          </a:p>
          <a:p>
            <a:pPr algn="ctr" defTabSz="457200" rtl="1">
              <a:lnSpc>
                <a:spcPct val="100000"/>
              </a:lnSpc>
              <a:spcAft>
                <a:spcPts val="0"/>
              </a:spcAft>
              <a:defRPr/>
            </a:pPr>
            <a:endParaRPr lang="en-US" b="1" dirty="0"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Simplified Arabic" panose="02020603050405020304" pitchFamily="18" charset="-78"/>
            </a:endParaRPr>
          </a:p>
          <a:p>
            <a:pPr algn="ctr" defTabSz="457200" rtl="1">
              <a:defRPr/>
            </a:pPr>
            <a:r>
              <a:rPr lang="ar-SA" b="1" dirty="0"/>
              <a:t>نظام كشف الكلام المزيف في الزمن الحقيقي</a:t>
            </a:r>
            <a:endParaRPr lang="en-US" b="1" dirty="0"/>
          </a:p>
          <a:p>
            <a:pPr algn="ctr" defTabSz="457200" rtl="1">
              <a:defRPr/>
            </a:pPr>
            <a:r>
              <a:rPr lang="en-US" b="1" dirty="0"/>
              <a:t>Real-Time Fake Speech Detection System</a:t>
            </a:r>
            <a:endParaRPr kumimoji="0" lang="ar-SY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lvl="0" algn="ctr" defTabSz="457200" rtl="1">
              <a:defRPr/>
            </a:pPr>
            <a:endParaRPr lang="ar-SY" b="1" dirty="0">
              <a:latin typeface="Century Gothic" panose="020B0502020202020204"/>
              <a:cs typeface="Simplified Arabic" panose="02020603050405020304" pitchFamily="18" charset="-78"/>
            </a:endParaRPr>
          </a:p>
          <a:p>
            <a:pPr lvl="0" algn="ctr" defTabSz="457200" rtl="1">
              <a:defRPr/>
            </a:pPr>
            <a:endParaRPr lang="en-US" b="1" dirty="0">
              <a:latin typeface="Century Gothic" panose="020B0502020202020204"/>
              <a:cs typeface="Simplified Arabic" panose="02020603050405020304" pitchFamily="18" charset="-78"/>
            </a:endParaRPr>
          </a:p>
          <a:p>
            <a:pPr lvl="2" algn="r" defTabSz="457200" rtl="1">
              <a:defRPr/>
            </a:pPr>
            <a:r>
              <a:rPr lang="ar-AE" b="1" dirty="0">
                <a:latin typeface="Century Gothic" panose="020B0502020202020204"/>
                <a:cs typeface="Simplified Arabic" panose="02020603050405020304" pitchFamily="18" charset="-78"/>
              </a:rPr>
              <a:t> إعداد</a:t>
            </a:r>
            <a:r>
              <a:rPr lang="en-US" b="1" dirty="0">
                <a:latin typeface="Century Gothic" panose="020B0502020202020204"/>
                <a:cs typeface="Simplified Arabic" panose="02020603050405020304" pitchFamily="18" charset="-78"/>
              </a:rPr>
              <a:t>:</a:t>
            </a:r>
          </a:p>
          <a:p>
            <a:pPr marL="1200150" lvl="2" indent="-285750" algn="r" rtl="1">
              <a:buFontTx/>
              <a:buChar char="-"/>
            </a:pPr>
            <a:r>
              <a:rPr lang="ar-OM" b="1" dirty="0"/>
              <a:t>محمد محمود المصري</a:t>
            </a:r>
            <a:r>
              <a:rPr lang="ar-SY" b="1" dirty="0"/>
              <a:t>.</a:t>
            </a:r>
          </a:p>
          <a:p>
            <a:pPr marL="1200150" lvl="2" indent="-285750" algn="r" rtl="1">
              <a:buFontTx/>
              <a:buChar char="-"/>
            </a:pPr>
            <a:r>
              <a:rPr lang="ar-OM" b="1" dirty="0"/>
              <a:t>الحمزة حيدر السلطان</a:t>
            </a:r>
            <a:r>
              <a:rPr lang="ar-SY" b="1" dirty="0"/>
              <a:t>.</a:t>
            </a:r>
            <a:endParaRPr kumimoji="0" lang="ar-SY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Gothic" panose="020B0502020202020204"/>
              <a:cs typeface="Simplified Arabic" panose="02020603050405020304" pitchFamily="18" charset="-78"/>
            </a:endParaRPr>
          </a:p>
          <a:p>
            <a:pPr lvl="2" algn="ctr" defTabSz="457200" rtl="1">
              <a:lnSpc>
                <a:spcPct val="150000"/>
              </a:lnSpc>
              <a:defRPr/>
            </a:pPr>
            <a:r>
              <a:rPr lang="ar-SY" b="1" dirty="0">
                <a:latin typeface="Century Gothic" panose="020B0502020202020204"/>
                <a:cs typeface="Simplified Arabic" panose="02020603050405020304" pitchFamily="18" charset="-78"/>
              </a:rPr>
              <a:t>  </a:t>
            </a:r>
          </a:p>
          <a:p>
            <a:pPr lvl="2" algn="r" defTabSz="457200" rtl="1">
              <a:lnSpc>
                <a:spcPct val="150000"/>
              </a:lnSpc>
              <a:defRPr/>
            </a:pPr>
            <a:r>
              <a:rPr lang="ar-AE" b="1" dirty="0">
                <a:latin typeface="Century Gothic" panose="020B0502020202020204"/>
                <a:cs typeface="Simplified Arabic" panose="02020603050405020304" pitchFamily="18" charset="-78"/>
              </a:rPr>
              <a:t>المشرف</a:t>
            </a:r>
            <a:r>
              <a:rPr lang="ar-SY" b="1" dirty="0">
                <a:latin typeface="Century Gothic" panose="020B0502020202020204"/>
                <a:cs typeface="Simplified Arabic" panose="02020603050405020304" pitchFamily="18" charset="-78"/>
              </a:rPr>
              <a:t> العلمي:</a:t>
            </a:r>
          </a:p>
          <a:p>
            <a:pPr lvl="2" algn="r" defTabSz="457200" rtl="1">
              <a:lnSpc>
                <a:spcPct val="150000"/>
              </a:lnSpc>
              <a:defRPr/>
            </a:pPr>
            <a:r>
              <a:rPr lang="ar-SY" b="1" dirty="0">
                <a:latin typeface="Century Gothic" panose="020B0502020202020204"/>
                <a:cs typeface="Simplified Arabic" panose="02020603050405020304" pitchFamily="18" charset="-78"/>
              </a:rPr>
              <a:t> </a:t>
            </a:r>
            <a:r>
              <a:rPr lang="ar-SY" b="1" dirty="0" err="1">
                <a:latin typeface="Century Gothic" panose="020B0502020202020204"/>
                <a:cs typeface="Simplified Arabic" panose="02020603050405020304" pitchFamily="18" charset="-78"/>
              </a:rPr>
              <a:t>د.م</a:t>
            </a:r>
            <a:r>
              <a:rPr lang="ar-SY" b="1" dirty="0">
                <a:latin typeface="Century Gothic" panose="020B0502020202020204"/>
                <a:cs typeface="Simplified Arabic" panose="02020603050405020304" pitchFamily="18" charset="-78"/>
              </a:rPr>
              <a:t>. هبة الله الخضور</a:t>
            </a:r>
          </a:p>
          <a:p>
            <a:pPr lvl="0" algn="ctr" defTabSz="457200" rtl="1">
              <a:defRPr/>
            </a:pPr>
            <a:endParaRPr kumimoji="0" lang="ar-SY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entury Gothic" panose="020B0502020202020204"/>
              <a:cs typeface="Simplified Arabic" panose="02020603050405020304" pitchFamily="18" charset="-78"/>
            </a:endParaRPr>
          </a:p>
          <a:p>
            <a:pPr lvl="0" algn="ctr" defTabSz="457200" rtl="1">
              <a:defRPr/>
            </a:pPr>
            <a:r>
              <a:rPr lang="en-US" b="1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3/Nov/2026</a:t>
            </a:r>
            <a:endParaRPr lang="ar-SY" b="1" dirty="0"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Simplified Arabic" panose="02020603050405020304" pitchFamily="18" charset="-78"/>
            </a:endParaRPr>
          </a:p>
        </p:txBody>
      </p:sp>
      <p:pic>
        <p:nvPicPr>
          <p:cNvPr id="5" name="صورة 2">
            <a:extLst>
              <a:ext uri="{FF2B5EF4-FFF2-40B4-BE49-F238E27FC236}">
                <a16:creationId xmlns:a16="http://schemas.microsoft.com/office/drawing/2014/main" id="{E3F4A0AC-CCF5-FFBC-BCF3-BB135D841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43" y="227429"/>
            <a:ext cx="2915816" cy="152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497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B9F22-F6AE-6DD9-A0FD-1552CB213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DD74FC-4A29-F9D0-FE26-0052829AE862}"/>
              </a:ext>
            </a:extLst>
          </p:cNvPr>
          <p:cNvCxnSpPr>
            <a:cxnSpLocks/>
          </p:cNvCxnSpPr>
          <p:nvPr/>
        </p:nvCxnSpPr>
        <p:spPr>
          <a:xfrm flipH="1">
            <a:off x="323528" y="908720"/>
            <a:ext cx="856895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5714CD-1334-1A38-78C9-3BA7D0B90DB2}"/>
              </a:ext>
            </a:extLst>
          </p:cNvPr>
          <p:cNvSpPr txBox="1"/>
          <p:nvPr/>
        </p:nvSpPr>
        <p:spPr>
          <a:xfrm>
            <a:off x="3779912" y="313492"/>
            <a:ext cx="5059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v"/>
            </a:pP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هدف المشروع ـــ</a:t>
            </a:r>
            <a:r>
              <a:rPr lang="en-US" sz="2400" b="1" dirty="0">
                <a:solidFill>
                  <a:srgbClr val="002060"/>
                </a:solidFill>
              </a:rPr>
              <a:t>Project Objective </a:t>
            </a:r>
            <a:r>
              <a:rPr lang="ar-SY" sz="2400" b="1" dirty="0">
                <a:solidFill>
                  <a:srgbClr val="002060"/>
                </a:solidFill>
              </a:rPr>
              <a:t>:</a:t>
            </a:r>
            <a:endParaRPr lang="ar-SY" sz="2400" b="1" dirty="0">
              <a:solidFill>
                <a:srgbClr val="002060"/>
              </a:solidFill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D0F855-AE4E-4B28-B49A-48FC19C664DB}"/>
              </a:ext>
            </a:extLst>
          </p:cNvPr>
          <p:cNvSpPr txBox="1"/>
          <p:nvPr/>
        </p:nvSpPr>
        <p:spPr>
          <a:xfrm>
            <a:off x="1448780" y="2159994"/>
            <a:ext cx="63184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defRPr/>
            </a:pPr>
            <a:r>
              <a:rPr lang="ar-OM" sz="3200" b="1" i="0" dirty="0">
                <a:solidFill>
                  <a:srgbClr val="1F1F1F"/>
                </a:solidFill>
                <a:effectLst/>
                <a:latin typeface="Google Sans Flex"/>
              </a:rPr>
              <a:t>كشف الكلام المزيف في الزمن الحقيقي</a:t>
            </a:r>
            <a:endParaRPr lang="ar-OM" sz="3200" b="1" dirty="0"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Simplified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51963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96FB2-AD1E-2C8C-F4E9-EEE0BE623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7FFAEE-6FC1-621B-93C5-A0A66E7CAE0A}"/>
              </a:ext>
            </a:extLst>
          </p:cNvPr>
          <p:cNvCxnSpPr>
            <a:cxnSpLocks/>
          </p:cNvCxnSpPr>
          <p:nvPr/>
        </p:nvCxnSpPr>
        <p:spPr>
          <a:xfrm flipH="1">
            <a:off x="323528" y="908720"/>
            <a:ext cx="856895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6838338-DC13-EA37-B170-6405F7835941}"/>
              </a:ext>
            </a:extLst>
          </p:cNvPr>
          <p:cNvSpPr txBox="1"/>
          <p:nvPr/>
        </p:nvSpPr>
        <p:spPr>
          <a:xfrm>
            <a:off x="1331640" y="313492"/>
            <a:ext cx="7507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v"/>
            </a:pPr>
            <a:r>
              <a:rPr lang="ar-SY" sz="2400" b="1" dirty="0">
                <a:latin typeface="Simplified Arabic" pitchFamily="18" charset="-78"/>
                <a:cs typeface="Simplified Arabic" pitchFamily="18" charset="-78"/>
              </a:rPr>
              <a:t>مشكلة المشروع وأهميته ـــ </a:t>
            </a:r>
            <a:r>
              <a:rPr lang="en-US" sz="2400" b="1" dirty="0"/>
              <a:t>Project Problem and significance</a:t>
            </a:r>
            <a:r>
              <a:rPr lang="ar-SY" sz="2400" b="1" dirty="0"/>
              <a:t>:</a:t>
            </a:r>
            <a:endParaRPr lang="ar-SY" sz="2400" b="1" dirty="0"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B13F36-DD93-6018-AEB0-D890A808C6DE}"/>
              </a:ext>
            </a:extLst>
          </p:cNvPr>
          <p:cNvSpPr txBox="1"/>
          <p:nvPr/>
        </p:nvSpPr>
        <p:spPr>
          <a:xfrm>
            <a:off x="4427984" y="1068622"/>
            <a:ext cx="4023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sz="2000" b="1" dirty="0">
                <a:latin typeface="Simplified Arabic" pitchFamily="18" charset="-78"/>
                <a:cs typeface="Simplified Arabic" pitchFamily="18" charset="-78"/>
              </a:rPr>
              <a:t>1- مشكلة المشروع ـــ </a:t>
            </a:r>
            <a:r>
              <a:rPr lang="en-US" sz="2000" b="1" dirty="0"/>
              <a:t>Project Problem</a:t>
            </a:r>
            <a:r>
              <a:rPr lang="ar-SY" sz="2000" b="1" dirty="0"/>
              <a:t>:</a:t>
            </a:r>
            <a:endParaRPr lang="ar-SY" sz="2000" b="1" dirty="0"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8E143F-4BD2-8258-570D-56F92C341998}"/>
              </a:ext>
            </a:extLst>
          </p:cNvPr>
          <p:cNvSpPr txBox="1"/>
          <p:nvPr/>
        </p:nvSpPr>
        <p:spPr>
          <a:xfrm>
            <a:off x="1084058" y="1833971"/>
            <a:ext cx="70478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dirty="0"/>
              <a:t>أصبح من السهل </a:t>
            </a:r>
            <a:r>
              <a:rPr lang="ar-OM" dirty="0"/>
              <a:t>توليد </a:t>
            </a:r>
            <a:r>
              <a:rPr lang="ar-SY" dirty="0"/>
              <a:t>و</a:t>
            </a:r>
            <a:r>
              <a:rPr lang="ar-OM" dirty="0"/>
              <a:t>استنساخ الأصوات باستخدام الذكاء الاصطناعي</a:t>
            </a:r>
            <a:r>
              <a:rPr lang="en-US" dirty="0"/>
              <a:t>(Voice Deepfakes) </a:t>
            </a:r>
            <a:r>
              <a:rPr lang="ar-OM" dirty="0"/>
              <a:t>أصبحت </a:t>
            </a:r>
            <a:r>
              <a:rPr lang="ar-OM" sz="1800" dirty="0"/>
              <a:t>متطورة جداً وسهلة الاستخدام، مما يسهل استغلالها في الاحتيال الهاتفي وانتحال الشخصيات</a:t>
            </a:r>
            <a:r>
              <a:rPr lang="ar-SY" dirty="0"/>
              <a:t>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10655A-B6BE-950D-6AC5-C68F08AAB7E2}"/>
              </a:ext>
            </a:extLst>
          </p:cNvPr>
          <p:cNvSpPr txBox="1"/>
          <p:nvPr/>
        </p:nvSpPr>
        <p:spPr>
          <a:xfrm>
            <a:off x="566192" y="3155277"/>
            <a:ext cx="8011616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rtl="1">
              <a:spcBef>
                <a:spcPts val="900"/>
              </a:spcBef>
              <a:spcAft>
                <a:spcPts val="1200"/>
              </a:spcAft>
              <a:buNone/>
            </a:pPr>
            <a:r>
              <a:rPr lang="ar-SY" sz="1800" b="0" u="none" strike="noStrike" dirty="0">
                <a:effectLst/>
                <a:latin typeface="+mn-lt"/>
              </a:rPr>
              <a:t>ت</a:t>
            </a:r>
            <a:r>
              <a:rPr lang="en-US" sz="1800" b="0" u="none" strike="noStrike" dirty="0" err="1">
                <a:effectLst/>
                <a:latin typeface="+mn-lt"/>
              </a:rPr>
              <a:t>كمن</a:t>
            </a:r>
            <a:r>
              <a:rPr lang="en-US" sz="1800" b="0" u="none" strike="noStrike" dirty="0">
                <a:effectLst/>
                <a:latin typeface="+mn-lt"/>
              </a:rPr>
              <a:t> مشكلة </a:t>
            </a:r>
            <a:r>
              <a:rPr lang="en-US" sz="1800" b="0" u="none" strike="noStrike" dirty="0" err="1">
                <a:effectLst/>
                <a:latin typeface="+mn-lt"/>
              </a:rPr>
              <a:t>البحث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في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الفجوة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الحالية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بين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التطور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المتسارع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لتقنيات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توليد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الصوت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بالذكاء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الاصطناعي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وعجز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الأنظمة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التقليدية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عن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ar-SY" sz="1800" b="0" u="none" strike="noStrike" dirty="0">
                <a:effectLst/>
                <a:latin typeface="+mn-lt"/>
              </a:rPr>
              <a:t>كشفها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ar-SY" sz="1800" b="0" u="none" strike="noStrike" dirty="0">
                <a:effectLst/>
                <a:latin typeface="+mn-lt"/>
              </a:rPr>
              <a:t>بالزمن الحقيقي نتيجة </a:t>
            </a:r>
            <a:r>
              <a:rPr lang="en-US" sz="1800" b="0" u="none" strike="noStrike" dirty="0">
                <a:effectLst/>
                <a:latin typeface="+mn-lt"/>
              </a:rPr>
              <a:t>:</a:t>
            </a:r>
          </a:p>
          <a:p>
            <a:pPr marL="342900" marR="0" lvl="0" indent="-342900" algn="just" rtl="1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u="none" strike="noStrike" dirty="0" err="1">
                <a:effectLst/>
                <a:latin typeface="+mn-lt"/>
              </a:rPr>
              <a:t>محدودية</a:t>
            </a:r>
            <a:r>
              <a:rPr lang="en-US" sz="1800" b="1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الأنظمة</a:t>
            </a:r>
            <a:r>
              <a:rPr lang="en-US" sz="1800" b="1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في</a:t>
            </a:r>
            <a:r>
              <a:rPr lang="en-US" sz="1800" b="1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الزمن</a:t>
            </a:r>
            <a:r>
              <a:rPr lang="en-US" sz="1800" b="1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الحقيقي</a:t>
            </a:r>
            <a:r>
              <a:rPr lang="ar-SY" b="1" dirty="0"/>
              <a:t>: </a:t>
            </a:r>
            <a:r>
              <a:rPr lang="ar-SY" dirty="0"/>
              <a:t>التي يعمل معظمها في وضع</a:t>
            </a:r>
            <a:r>
              <a:rPr lang="en-US" sz="1800" b="0" u="none" strike="noStrike" dirty="0">
                <a:effectLst/>
                <a:latin typeface="+mn-lt"/>
              </a:rPr>
              <a:t>(Offline)</a:t>
            </a:r>
            <a:r>
              <a:rPr lang="ar-SY" sz="1800" b="0" u="none" strike="noStrike" dirty="0">
                <a:effectLst/>
                <a:latin typeface="+mn-lt"/>
              </a:rPr>
              <a:t>.</a:t>
            </a:r>
          </a:p>
          <a:p>
            <a:pPr marL="342900" marR="0" lvl="0" indent="-342900" algn="just" rtl="1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1" u="none" strike="noStrike" dirty="0" err="1">
                <a:effectLst/>
                <a:latin typeface="+mn-lt"/>
              </a:rPr>
              <a:t>تأثير</a:t>
            </a:r>
            <a:r>
              <a:rPr lang="en-US" sz="1800" b="1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قنوات</a:t>
            </a:r>
            <a:r>
              <a:rPr lang="en-US" sz="1800" b="1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الاتصال</a:t>
            </a:r>
            <a:r>
              <a:rPr lang="ar-SY" sz="1800" b="1" u="none" strike="noStrike" dirty="0">
                <a:effectLst/>
                <a:latin typeface="+mn-lt"/>
              </a:rPr>
              <a:t>:</a:t>
            </a:r>
            <a:r>
              <a:rPr lang="en-US" sz="1800" b="1" u="none" strike="noStrike" dirty="0">
                <a:effectLst/>
                <a:latin typeface="+mn-lt"/>
              </a:rPr>
              <a:t> </a:t>
            </a:r>
            <a:r>
              <a:rPr lang="ar-SY" sz="1800" u="none" strike="noStrike" dirty="0">
                <a:effectLst/>
                <a:latin typeface="+mn-lt"/>
              </a:rPr>
              <a:t>التي تؤدي إلى </a:t>
            </a:r>
            <a:r>
              <a:rPr lang="en-US" sz="1800" u="none" strike="noStrike" dirty="0" err="1">
                <a:effectLst/>
                <a:latin typeface="+mn-lt"/>
              </a:rPr>
              <a:t>انخفاض</a:t>
            </a:r>
            <a:r>
              <a:rPr lang="en-US" sz="1800" u="none" strike="noStrike" dirty="0">
                <a:effectLst/>
                <a:latin typeface="+mn-lt"/>
              </a:rPr>
              <a:t> </a:t>
            </a:r>
            <a:r>
              <a:rPr lang="en-US" sz="1800" u="none" strike="noStrike" dirty="0" err="1">
                <a:effectLst/>
                <a:latin typeface="+mn-lt"/>
              </a:rPr>
              <a:t>دقة</a:t>
            </a:r>
            <a:r>
              <a:rPr lang="en-US" sz="1800" u="none" strike="noStrike" dirty="0">
                <a:effectLst/>
                <a:latin typeface="+mn-lt"/>
              </a:rPr>
              <a:t> </a:t>
            </a:r>
            <a:r>
              <a:rPr lang="en-US" sz="1800" u="none" strike="noStrike" dirty="0" err="1">
                <a:effectLst/>
                <a:latin typeface="+mn-lt"/>
              </a:rPr>
              <a:t>الكشف</a:t>
            </a:r>
            <a:r>
              <a:rPr lang="en-US" sz="1800" u="none" strike="noStrike" dirty="0">
                <a:effectLst/>
                <a:latin typeface="+mn-lt"/>
              </a:rPr>
              <a:t> </a:t>
            </a:r>
            <a:r>
              <a:rPr lang="en-US" sz="1800" u="none" strike="noStrike" dirty="0" err="1">
                <a:effectLst/>
                <a:latin typeface="+mn-lt"/>
              </a:rPr>
              <a:t>بشكل</a:t>
            </a:r>
            <a:r>
              <a:rPr lang="en-US" sz="180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حاد</a:t>
            </a:r>
            <a:r>
              <a:rPr lang="en-US" sz="1800" b="0" u="none" strike="noStrike" dirty="0">
                <a:effectLst/>
                <a:latin typeface="+mn-lt"/>
              </a:rPr>
              <a:t>.</a:t>
            </a:r>
          </a:p>
          <a:p>
            <a:pPr marL="342900" marR="0" lvl="0" indent="-342900" algn="just" rtl="1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ar-SY" sz="1800" b="1" u="none" strike="noStrike" dirty="0">
                <a:effectLst/>
                <a:latin typeface="+mn-lt"/>
              </a:rPr>
              <a:t>قلة الدراسات المتعلقة بكشف التزييف في اللغة العربية</a:t>
            </a:r>
            <a:r>
              <a:rPr lang="en-US" sz="1800" b="0" u="none" strike="noStrike" dirty="0">
                <a:effectLst/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858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9795E-2062-35DF-3804-B8FC86CAE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56CF9-606A-A135-3489-95B5D9B02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4308" y="6488112"/>
            <a:ext cx="2133600" cy="365125"/>
          </a:xfrm>
        </p:spPr>
        <p:txBody>
          <a:bodyPr/>
          <a:lstStyle/>
          <a:p>
            <a:fld id="{C489637A-11D4-42A0-937C-45FCD8DF8B40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B7D31E-06B3-D659-02ED-1AFC731CCD3B}"/>
              </a:ext>
            </a:extLst>
          </p:cNvPr>
          <p:cNvCxnSpPr>
            <a:cxnSpLocks/>
          </p:cNvCxnSpPr>
          <p:nvPr/>
        </p:nvCxnSpPr>
        <p:spPr>
          <a:xfrm flipH="1">
            <a:off x="314636" y="1040482"/>
            <a:ext cx="856895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A0C7822-26CE-E0DE-35C6-0593164EEECB}"/>
              </a:ext>
            </a:extLst>
          </p:cNvPr>
          <p:cNvSpPr txBox="1"/>
          <p:nvPr/>
        </p:nvSpPr>
        <p:spPr>
          <a:xfrm>
            <a:off x="3699012" y="1200384"/>
            <a:ext cx="4743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sz="2000" b="1" dirty="0">
                <a:latin typeface="Simplified Arabic" pitchFamily="18" charset="-78"/>
                <a:cs typeface="Simplified Arabic" pitchFamily="18" charset="-78"/>
              </a:rPr>
              <a:t>2-  أهمية المشروع ـــ </a:t>
            </a:r>
            <a:r>
              <a:rPr lang="en-US" sz="2000" b="1" dirty="0"/>
              <a:t>Project Significance</a:t>
            </a:r>
            <a:r>
              <a:rPr lang="ar-SY" sz="2000" b="1" dirty="0"/>
              <a:t>:</a:t>
            </a:r>
            <a:endParaRPr lang="ar-SY" sz="2000" b="1" dirty="0"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518E95-550B-C55E-55E5-BD625EF5670A}"/>
              </a:ext>
            </a:extLst>
          </p:cNvPr>
          <p:cNvSpPr txBox="1"/>
          <p:nvPr/>
        </p:nvSpPr>
        <p:spPr>
          <a:xfrm>
            <a:off x="1322748" y="445254"/>
            <a:ext cx="7507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v"/>
            </a:pPr>
            <a:r>
              <a:rPr lang="ar-SY" sz="2400" b="1" dirty="0">
                <a:latin typeface="Simplified Arabic" pitchFamily="18" charset="-78"/>
                <a:cs typeface="Simplified Arabic" pitchFamily="18" charset="-78"/>
              </a:rPr>
              <a:t>مشكلة البحث وأهميته ـــ </a:t>
            </a:r>
            <a:r>
              <a:rPr lang="en-US" sz="2400" b="1" dirty="0"/>
              <a:t>Project Problem and significance</a:t>
            </a:r>
            <a:r>
              <a:rPr lang="ar-SY" sz="2400" b="1" dirty="0"/>
              <a:t>:</a:t>
            </a:r>
            <a:endParaRPr lang="ar-SY" sz="2400" b="1" dirty="0"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7038B9-69FC-12CD-85D0-B642AF150198}"/>
              </a:ext>
            </a:extLst>
          </p:cNvPr>
          <p:cNvSpPr txBox="1"/>
          <p:nvPr/>
        </p:nvSpPr>
        <p:spPr>
          <a:xfrm>
            <a:off x="0" y="1916832"/>
            <a:ext cx="8200020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25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ar-OM" dirty="0"/>
              <a:t>الحماية الفورية من الاحتيال الهاتفي</a:t>
            </a:r>
            <a:r>
              <a:rPr lang="en-US" dirty="0"/>
              <a:t>((Spectral Feature Extraction)</a:t>
            </a:r>
          </a:p>
          <a:p>
            <a:pPr marL="285750" indent="-285750" algn="r" rtl="1">
              <a:lnSpc>
                <a:spcPct val="25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ar-OM" dirty="0"/>
              <a:t>توفير أداة ذكية خفيفة وسريعة</a:t>
            </a:r>
            <a:r>
              <a:rPr lang="ar-SY" dirty="0"/>
              <a:t> </a:t>
            </a:r>
            <a:r>
              <a:rPr lang="en-US" dirty="0"/>
              <a:t>(Lightweight AI tool)</a:t>
            </a:r>
            <a:r>
              <a:rPr lang="ar-SY" dirty="0"/>
              <a:t>.</a:t>
            </a:r>
            <a:endParaRPr lang="en-US" sz="1800" b="0" u="none" strike="noStrike" dirty="0">
              <a:effectLst/>
              <a:latin typeface="+mn-lt"/>
            </a:endParaRPr>
          </a:p>
          <a:p>
            <a:pPr marL="342900" marR="0" lvl="0" indent="-342900" algn="r" rtl="1">
              <a:spcBef>
                <a:spcPts val="900"/>
              </a:spcBef>
              <a:spcAft>
                <a:spcPts val="900"/>
              </a:spcAft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ar-SY" dirty="0"/>
              <a:t>دعم الأبحاث والخوارزميات التي تدعم ا</a:t>
            </a:r>
            <a:r>
              <a:rPr lang="en-US" sz="1800" b="0" u="none" strike="noStrike" dirty="0" err="1">
                <a:effectLst/>
                <a:latin typeface="+mn-lt"/>
              </a:rPr>
              <a:t>لمحتوى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الصوتي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العربي</a:t>
            </a:r>
            <a:r>
              <a:rPr lang="ar-SY" dirty="0"/>
              <a:t>.</a:t>
            </a:r>
            <a:endParaRPr lang="en-US" sz="1800" b="0" u="none" strike="noStrike" dirty="0">
              <a:effectLst/>
              <a:latin typeface="+mn-lt"/>
            </a:endParaRPr>
          </a:p>
          <a:p>
            <a:pPr marL="342900" marR="0" lvl="0" indent="-342900" algn="r" rtl="1">
              <a:spcBef>
                <a:spcPts val="90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ar-SY" sz="1800" u="none" strike="noStrike" dirty="0">
                <a:effectLst/>
                <a:latin typeface="+mn-lt"/>
              </a:rPr>
              <a:t>استخدامها في </a:t>
            </a:r>
            <a:r>
              <a:rPr lang="en-US" sz="1800" b="0" u="none" strike="noStrike" dirty="0" err="1">
                <a:effectLst/>
                <a:latin typeface="+mn-lt"/>
              </a:rPr>
              <a:t>تطبيقات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المراسلة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والمكالمات</a:t>
            </a:r>
            <a:r>
              <a:rPr lang="en-US" sz="1800" b="0" u="none" strike="noStrike" dirty="0">
                <a:effectLst/>
                <a:latin typeface="+mn-lt"/>
              </a:rPr>
              <a:t>) </a:t>
            </a:r>
            <a:r>
              <a:rPr lang="en-US" sz="1800" b="0" u="none" strike="noStrike" dirty="0" err="1">
                <a:effectLst/>
                <a:latin typeface="+mn-lt"/>
              </a:rPr>
              <a:t>لحماية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خصوصية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وتأكيد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هوية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المتحدثين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لحظياً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ar-SY" sz="1800" b="0" u="none" strike="noStrike" dirty="0">
                <a:effectLst/>
                <a:latin typeface="+mn-lt"/>
              </a:rPr>
              <a:t>).</a:t>
            </a:r>
            <a:endParaRPr lang="en-US" sz="1800" b="0" u="none" strike="noStrike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7213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B3248-83D6-B8B4-DADF-7E3871767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53783-B2D1-736F-B4AE-E79EACA11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145DEB4-D930-D64D-A0B3-A60432BD1705}"/>
              </a:ext>
            </a:extLst>
          </p:cNvPr>
          <p:cNvCxnSpPr>
            <a:cxnSpLocks/>
          </p:cNvCxnSpPr>
          <p:nvPr/>
        </p:nvCxnSpPr>
        <p:spPr>
          <a:xfrm flipH="1">
            <a:off x="323528" y="908720"/>
            <a:ext cx="856895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1A1AC76-9F10-7440-0F8F-B40F974FD25C}"/>
              </a:ext>
            </a:extLst>
          </p:cNvPr>
          <p:cNvSpPr txBox="1"/>
          <p:nvPr/>
        </p:nvSpPr>
        <p:spPr>
          <a:xfrm>
            <a:off x="251520" y="260648"/>
            <a:ext cx="8371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 rtl="1">
              <a:buFont typeface="Wingdings" panose="05000000000000000000" pitchFamily="2" charset="2"/>
              <a:buChar char="v"/>
            </a:pP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ا</a:t>
            </a:r>
            <a:r>
              <a:rPr lang="en-US" sz="2400" b="1" dirty="0" err="1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لأساسيات</a:t>
            </a:r>
            <a:r>
              <a:rPr lang="en-US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النظرية</a:t>
            </a: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 ـــ </a:t>
            </a:r>
            <a:r>
              <a:rPr lang="en-US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(1\3)Theoretical Background</a:t>
            </a:r>
            <a:endParaRPr lang="ar-SY" sz="2400" b="1" dirty="0">
              <a:solidFill>
                <a:srgbClr val="002060"/>
              </a:solidFill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CCC0E-162B-4285-7BA1-797FF1B3D6CF}"/>
              </a:ext>
            </a:extLst>
          </p:cNvPr>
          <p:cNvSpPr txBox="1"/>
          <p:nvPr/>
        </p:nvSpPr>
        <p:spPr>
          <a:xfrm>
            <a:off x="251520" y="1772816"/>
            <a:ext cx="8568952" cy="3947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 rtl="1">
              <a:spcBef>
                <a:spcPts val="1800"/>
              </a:spcBef>
              <a:buAutoNum type="arabicPeriod"/>
            </a:pPr>
            <a:r>
              <a:rPr lang="en-US" sz="1800" b="1" u="none" strike="noStrike" dirty="0" err="1">
                <a:effectLst/>
                <a:latin typeface="+mn-lt"/>
              </a:rPr>
              <a:t>الإشارة</a:t>
            </a:r>
            <a:r>
              <a:rPr lang="en-US" sz="1800" b="1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الصوتية</a:t>
            </a:r>
            <a:r>
              <a:rPr lang="en-US" sz="1800" b="1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الخام</a:t>
            </a:r>
            <a:r>
              <a:rPr lang="en-US" sz="1800" b="1" u="none" strike="noStrike" dirty="0">
                <a:effectLst/>
                <a:latin typeface="+mn-lt"/>
              </a:rPr>
              <a:t> (Raw Audio Stream</a:t>
            </a:r>
            <a:r>
              <a:rPr lang="en-US" sz="1800" b="1" u="none" strike="noStrike" dirty="0">
                <a:solidFill>
                  <a:srgbClr val="FF0000"/>
                </a:solidFill>
                <a:effectLst/>
                <a:latin typeface="+mn-lt"/>
              </a:rPr>
              <a:t>*</a:t>
            </a:r>
            <a:r>
              <a:rPr lang="en-US" sz="1800" b="1" u="none" strike="noStrike" dirty="0">
                <a:effectLst/>
                <a:latin typeface="+mn-lt"/>
              </a:rPr>
              <a:t> )</a:t>
            </a:r>
            <a:r>
              <a:rPr lang="ar-SY" sz="1800" b="1" u="none" strike="noStrike" dirty="0">
                <a:effectLst/>
                <a:latin typeface="+mn-lt"/>
              </a:rPr>
              <a:t>: </a:t>
            </a:r>
            <a:r>
              <a:rPr lang="en-US" sz="1800" b="0" u="none" strike="noStrike" dirty="0" err="1">
                <a:effectLst/>
                <a:latin typeface="+mn-lt"/>
              </a:rPr>
              <a:t>هي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ar-SY" dirty="0"/>
              <a:t>موجه صوتيه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بعد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تحويلها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رقمياً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دون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أي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تعديل</a:t>
            </a:r>
            <a:r>
              <a:rPr lang="en-US" sz="1800" b="0" u="none" strike="noStrike" dirty="0">
                <a:effectLst/>
                <a:latin typeface="+mn-lt"/>
              </a:rPr>
              <a:t>. ، </a:t>
            </a:r>
            <a:r>
              <a:rPr lang="en-US" sz="1800" b="0" u="none" strike="noStrike" dirty="0" err="1">
                <a:effectLst/>
                <a:latin typeface="+mn-lt"/>
              </a:rPr>
              <a:t>يتم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تقطيع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هذا</a:t>
            </a:r>
            <a:r>
              <a:rPr lang="en-US" sz="1800" b="0" u="none" strike="noStrike" dirty="0">
                <a:effectLst/>
                <a:latin typeface="+mn-lt"/>
              </a:rPr>
              <a:t> التدفق </a:t>
            </a:r>
            <a:r>
              <a:rPr lang="en-US" sz="1800" b="0" u="none" strike="noStrike" dirty="0" err="1">
                <a:effectLst/>
                <a:latin typeface="+mn-lt"/>
              </a:rPr>
              <a:t>المستمر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إلى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أجزاء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زمنية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صغيرة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جداً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تُسمى</a:t>
            </a:r>
            <a:r>
              <a:rPr lang="en-US" sz="1800" b="0" u="none" strike="noStrike" dirty="0">
                <a:effectLst/>
                <a:latin typeface="+mn-lt"/>
              </a:rPr>
              <a:t> (</a:t>
            </a:r>
            <a:r>
              <a:rPr lang="en-US" sz="1800" b="1" u="none" strike="noStrike" dirty="0">
                <a:effectLst/>
                <a:latin typeface="+mn-lt"/>
              </a:rPr>
              <a:t>Chunks)</a:t>
            </a:r>
            <a:r>
              <a:rPr lang="ar-SY" sz="1800" b="1" u="none" strike="noStrike" dirty="0">
                <a:effectLst/>
                <a:latin typeface="+mn-lt"/>
              </a:rPr>
              <a:t> </a:t>
            </a:r>
            <a:r>
              <a:rPr lang="ar-SY" sz="1800" b="0" u="none" strike="noStrike" dirty="0">
                <a:effectLst/>
                <a:latin typeface="+mn-lt"/>
              </a:rPr>
              <a:t>تعادل </a:t>
            </a:r>
            <a:r>
              <a:rPr lang="en-US" sz="1800" b="0" u="none" strike="noStrike" dirty="0" err="1">
                <a:effectLst/>
                <a:latin typeface="+mn-lt"/>
              </a:rPr>
              <a:t>أجزاء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من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الثاني</a:t>
            </a:r>
            <a:r>
              <a:rPr lang="ar-SY" sz="1800" b="0" u="none" strike="noStrike" dirty="0">
                <a:effectLst/>
                <a:latin typeface="+mn-lt"/>
              </a:rPr>
              <a:t>ة</a:t>
            </a:r>
            <a:r>
              <a:rPr lang="ar-SY" dirty="0"/>
              <a:t> (</a:t>
            </a:r>
            <a:r>
              <a:rPr lang="en-US" sz="1800" b="0" u="none" strike="noStrike" dirty="0" err="1">
                <a:effectLst/>
                <a:latin typeface="+mn-lt"/>
              </a:rPr>
              <a:t>لضمان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المعالجة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الآنية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وتقليل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زمن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التأخي</a:t>
            </a:r>
            <a:r>
              <a:rPr lang="ar-SY" dirty="0"/>
              <a:t>ر).</a:t>
            </a:r>
          </a:p>
          <a:p>
            <a:pPr marR="0">
              <a:spcBef>
                <a:spcPts val="1800"/>
              </a:spcBef>
            </a:pPr>
            <a:r>
              <a:rPr lang="ar-SY" dirty="0"/>
              <a:t> </a:t>
            </a:r>
            <a:r>
              <a:rPr lang="en-US" sz="1800" b="0" u="none" strike="noStrike" dirty="0">
                <a:effectLst/>
                <a:latin typeface="+mn-lt"/>
              </a:rPr>
              <a:t>[2024 Awaad et al.].</a:t>
            </a:r>
            <a:endParaRPr lang="ar-SY" sz="1800" b="0" u="none" strike="noStrike" dirty="0">
              <a:effectLst/>
              <a:latin typeface="+mn-lt"/>
            </a:endParaRPr>
          </a:p>
          <a:p>
            <a:pPr marR="0">
              <a:spcBef>
                <a:spcPts val="1800"/>
              </a:spcBef>
            </a:pPr>
            <a:endParaRPr lang="ar-SY" dirty="0"/>
          </a:p>
          <a:p>
            <a:pPr marR="0" algn="just" rtl="1">
              <a:spcBef>
                <a:spcPts val="1800"/>
              </a:spcBef>
              <a:spcAft>
                <a:spcPts val="900"/>
              </a:spcAft>
            </a:pPr>
            <a:r>
              <a:rPr lang="en-US" b="1" dirty="0"/>
              <a:t>2</a:t>
            </a:r>
            <a:r>
              <a:rPr lang="ar-SY" b="1" dirty="0"/>
              <a:t>. </a:t>
            </a:r>
            <a:r>
              <a:rPr lang="en-US" sz="1800" b="1" u="none" strike="noStrike" dirty="0" err="1">
                <a:effectLst/>
                <a:latin typeface="+mn-lt"/>
              </a:rPr>
              <a:t>برامج</a:t>
            </a:r>
            <a:r>
              <a:rPr lang="en-US" sz="1800" b="1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ضغط</a:t>
            </a:r>
            <a:r>
              <a:rPr lang="en-US" sz="1800" b="1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وفك</a:t>
            </a:r>
            <a:r>
              <a:rPr lang="en-US" sz="1800" b="1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تشفير</a:t>
            </a:r>
            <a:r>
              <a:rPr lang="en-US" sz="1800" b="1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الصوت</a:t>
            </a:r>
            <a:r>
              <a:rPr lang="en-US" sz="1800" b="1" u="none" strike="noStrike" dirty="0">
                <a:effectLst/>
                <a:latin typeface="+mn-lt"/>
              </a:rPr>
              <a:t> (Audio Codecs)</a:t>
            </a:r>
            <a:r>
              <a:rPr lang="ar-SY" b="1" dirty="0"/>
              <a:t>: </a:t>
            </a:r>
            <a:r>
              <a:rPr lang="ar-SY" sz="1800" b="0" u="none" strike="noStrike" dirty="0">
                <a:effectLst/>
                <a:latin typeface="+mn-lt"/>
              </a:rPr>
              <a:t>تشمل </a:t>
            </a:r>
            <a:r>
              <a:rPr lang="en-US" sz="1800" b="0" u="none" strike="noStrike" dirty="0" err="1">
                <a:effectLst/>
                <a:latin typeface="+mn-lt"/>
              </a:rPr>
              <a:t>خوارزميات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رقمية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ar-SY" sz="1800" b="0" u="none" strike="noStrike" dirty="0">
                <a:effectLst/>
                <a:latin typeface="+mn-lt"/>
              </a:rPr>
              <a:t>(</a:t>
            </a:r>
            <a:r>
              <a:rPr lang="en-US" sz="1800" b="0" u="none" strike="noStrike" dirty="0" err="1">
                <a:effectLst/>
                <a:latin typeface="+mn-lt"/>
              </a:rPr>
              <a:t>مثل</a:t>
            </a:r>
            <a:r>
              <a:rPr lang="en-US" sz="1800" b="0" u="none" strike="noStrike" dirty="0">
                <a:effectLst/>
                <a:latin typeface="+mn-lt"/>
              </a:rPr>
              <a:t> Opus </a:t>
            </a:r>
            <a:r>
              <a:rPr lang="ar-SY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أو</a:t>
            </a:r>
            <a:r>
              <a:rPr lang="en-US" sz="1800" b="0" u="none" strike="noStrike" dirty="0">
                <a:effectLst/>
                <a:latin typeface="+mn-lt"/>
              </a:rPr>
              <a:t> G.711</a:t>
            </a:r>
            <a:r>
              <a:rPr lang="ar-SY" sz="1800" b="0" u="none" strike="noStrike" dirty="0">
                <a:effectLst/>
                <a:latin typeface="+mn-lt"/>
              </a:rPr>
              <a:t>)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تُستخدم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في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منصات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الاتصال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ar-SY" sz="1800" b="0" u="none" strike="noStrike" dirty="0">
                <a:effectLst/>
                <a:latin typeface="+mn-lt"/>
              </a:rPr>
              <a:t>المباشر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لضغط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حجم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الصوت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ونقله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عبر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الشبكة</a:t>
            </a:r>
            <a:r>
              <a:rPr lang="en-US" sz="1800" b="0" u="none" strike="noStrike" dirty="0">
                <a:effectLst/>
                <a:latin typeface="+mn-lt"/>
              </a:rPr>
              <a:t>. </a:t>
            </a:r>
            <a:r>
              <a:rPr lang="en-US" sz="1800" b="0" u="none" strike="noStrike" dirty="0" err="1">
                <a:effectLst/>
                <a:latin typeface="+mn-lt"/>
              </a:rPr>
              <a:t>تركز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المقالات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على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دراستها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لأنها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تسبب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تشوه</a:t>
            </a:r>
            <a:r>
              <a:rPr lang="en-US" sz="1800" b="1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القنوات</a:t>
            </a:r>
            <a:r>
              <a:rPr lang="en-US" sz="1800" b="1" u="none" strike="noStrike" dirty="0">
                <a:effectLst/>
                <a:latin typeface="+mn-lt"/>
              </a:rPr>
              <a:t> (Channel Distortions)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وتطمس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الأدلة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الجنائية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الدقيقة</a:t>
            </a:r>
            <a:r>
              <a:rPr lang="en-US" sz="1800" b="0" u="none" strike="noStrike" dirty="0">
                <a:effectLst/>
                <a:latin typeface="+mn-lt"/>
              </a:rPr>
              <a:t>، </a:t>
            </a:r>
            <a:r>
              <a:rPr lang="en-US" sz="1800" b="0" u="none" strike="noStrike" dirty="0" err="1">
                <a:effectLst/>
                <a:latin typeface="+mn-lt"/>
              </a:rPr>
              <a:t>مما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يتطلب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معالجة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خاصة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لضمان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ثبات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دقة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الكشف</a:t>
            </a:r>
            <a:r>
              <a:rPr lang="ar-SY" dirty="0"/>
              <a:t>.</a:t>
            </a:r>
          </a:p>
          <a:p>
            <a:pPr rtl="1"/>
            <a:endParaRPr lang="ar-SY" sz="1800" b="0" u="none" strike="noStrike" dirty="0">
              <a:effectLst/>
              <a:latin typeface="+mn-lt"/>
            </a:endParaRPr>
          </a:p>
          <a:p>
            <a:r>
              <a:rPr lang="ar-SY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>
                <a:effectLst/>
                <a:latin typeface="+mn-lt"/>
              </a:rPr>
              <a:t>[2026-Xue et al].</a:t>
            </a:r>
            <a:endParaRPr lang="ar-SY" sz="1800" b="0" u="none" strike="noStrike" dirty="0">
              <a:effectLst/>
              <a:latin typeface="+mn-lt"/>
            </a:endParaRPr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7AA5DC3B-B8B1-C533-6CBE-E020D3DD7833}"/>
              </a:ext>
            </a:extLst>
          </p:cNvPr>
          <p:cNvSpPr txBox="1"/>
          <p:nvPr/>
        </p:nvSpPr>
        <p:spPr>
          <a:xfrm>
            <a:off x="2575713" y="6171684"/>
            <a:ext cx="333762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/>
              <a:t>RTS: </a:t>
            </a:r>
            <a:r>
              <a:rPr lang="en-US" dirty="0"/>
              <a:t>Real-Time System.</a:t>
            </a:r>
          </a:p>
        </p:txBody>
      </p:sp>
    </p:spTree>
    <p:extLst>
      <p:ext uri="{BB962C8B-B14F-4D97-AF65-F5344CB8AC3E}">
        <p14:creationId xmlns:p14="http://schemas.microsoft.com/office/powerpoint/2010/main" val="2896030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EF68C8-80E1-DF61-C42D-AB2D5E9FE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89DAFC-0F52-3D13-6EB4-B4CC0007E7E4}"/>
              </a:ext>
            </a:extLst>
          </p:cNvPr>
          <p:cNvSpPr txBox="1"/>
          <p:nvPr/>
        </p:nvSpPr>
        <p:spPr>
          <a:xfrm>
            <a:off x="172927" y="1095128"/>
            <a:ext cx="8712968" cy="4262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ar-SY" dirty="0"/>
          </a:p>
          <a:p>
            <a:pPr marR="0" lvl="0" algn="r" rtl="1"/>
            <a:r>
              <a:rPr lang="en-US" b="1" dirty="0"/>
              <a:t>3</a:t>
            </a:r>
            <a:r>
              <a:rPr lang="ar-SY" b="1" dirty="0"/>
              <a:t>. </a:t>
            </a:r>
            <a:r>
              <a:rPr lang="en-US" b="1" dirty="0" err="1"/>
              <a:t>التمثيلات</a:t>
            </a:r>
            <a:r>
              <a:rPr lang="en-US" b="1" dirty="0"/>
              <a:t> </a:t>
            </a:r>
            <a:r>
              <a:rPr lang="en-US" b="1" dirty="0" err="1"/>
              <a:t>الطيفية</a:t>
            </a:r>
            <a:r>
              <a:rPr lang="en-US" b="1" dirty="0"/>
              <a:t> (Spectrograms / Spectral Features)</a:t>
            </a:r>
            <a:r>
              <a:rPr lang="ar-SY" b="1" dirty="0"/>
              <a:t>: </a:t>
            </a:r>
            <a:r>
              <a:rPr lang="ar-SY" dirty="0"/>
              <a:t>وهي تهتم بتحويل </a:t>
            </a:r>
            <a:r>
              <a:rPr lang="en-US" dirty="0" err="1"/>
              <a:t>الإشارة</a:t>
            </a:r>
            <a:r>
              <a:rPr lang="en-US" dirty="0"/>
              <a:t> </a:t>
            </a:r>
            <a:r>
              <a:rPr lang="en-US" dirty="0" err="1"/>
              <a:t>الصوتية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النطاق</a:t>
            </a:r>
            <a:r>
              <a:rPr lang="en-US" dirty="0"/>
              <a:t> </a:t>
            </a:r>
            <a:r>
              <a:rPr lang="en-US" dirty="0" err="1"/>
              <a:t>الزمني</a:t>
            </a:r>
            <a:r>
              <a:rPr lang="en-US" dirty="0"/>
              <a:t> (Time Domain) </a:t>
            </a:r>
            <a:r>
              <a:rPr lang="ar-SY" dirty="0"/>
              <a:t> </a:t>
            </a:r>
            <a:r>
              <a:rPr lang="en-US" dirty="0" err="1"/>
              <a:t>إلى</a:t>
            </a:r>
            <a:r>
              <a:rPr lang="en-US" dirty="0"/>
              <a:t> </a:t>
            </a:r>
            <a:r>
              <a:rPr lang="en-US" dirty="0" err="1"/>
              <a:t>النطاق</a:t>
            </a:r>
            <a:r>
              <a:rPr lang="en-US" dirty="0"/>
              <a:t> </a:t>
            </a:r>
            <a:r>
              <a:rPr lang="en-US" dirty="0" err="1"/>
              <a:t>الترددي</a:t>
            </a:r>
            <a:r>
              <a:rPr lang="en-US" dirty="0"/>
              <a:t> (Frequency Domain) </a:t>
            </a:r>
            <a:r>
              <a:rPr lang="ar-SY" dirty="0"/>
              <a:t> </a:t>
            </a:r>
            <a:r>
              <a:rPr lang="en-US" dirty="0" err="1"/>
              <a:t>باستخدام</a:t>
            </a:r>
            <a:r>
              <a:rPr lang="en-US" dirty="0"/>
              <a:t> </a:t>
            </a:r>
            <a:r>
              <a:rPr lang="en-US" dirty="0" err="1"/>
              <a:t>تحويل</a:t>
            </a:r>
            <a:r>
              <a:rPr lang="en-US" dirty="0"/>
              <a:t> </a:t>
            </a:r>
            <a:r>
              <a:rPr lang="ar-SY" dirty="0">
                <a:solidFill>
                  <a:srgbClr val="FF0000"/>
                </a:solidFill>
              </a:rPr>
              <a:t>فورييه</a:t>
            </a:r>
            <a:r>
              <a:rPr lang="en-US" dirty="0"/>
              <a:t> </a:t>
            </a:r>
            <a:r>
              <a:rPr lang="en-US" dirty="0" err="1"/>
              <a:t>السريع</a:t>
            </a:r>
            <a:r>
              <a:rPr lang="en-US" dirty="0"/>
              <a:t> (FFT)</a:t>
            </a:r>
            <a:r>
              <a:rPr lang="ar-SY" dirty="0"/>
              <a:t>. </a:t>
            </a:r>
            <a:r>
              <a:rPr lang="en-US" dirty="0"/>
              <a:t> </a:t>
            </a:r>
            <a:r>
              <a:rPr lang="en-US" dirty="0" err="1"/>
              <a:t>تُنتج</a:t>
            </a:r>
            <a:r>
              <a:rPr lang="en-US" dirty="0"/>
              <a:t> </a:t>
            </a:r>
            <a:r>
              <a:rPr lang="en-US" dirty="0" err="1"/>
              <a:t>هذه</a:t>
            </a:r>
            <a:r>
              <a:rPr lang="en-US" dirty="0"/>
              <a:t> </a:t>
            </a:r>
            <a:r>
              <a:rPr lang="en-US" dirty="0" err="1"/>
              <a:t>العملية</a:t>
            </a:r>
            <a:r>
              <a:rPr lang="en-US" dirty="0"/>
              <a:t> </a:t>
            </a:r>
            <a:r>
              <a:rPr lang="en-US" dirty="0" err="1"/>
              <a:t>صوراً</a:t>
            </a:r>
            <a:r>
              <a:rPr lang="en-US" dirty="0"/>
              <a:t> </a:t>
            </a:r>
            <a:r>
              <a:rPr lang="en-US" dirty="0" err="1"/>
              <a:t>بصرية</a:t>
            </a:r>
            <a:r>
              <a:rPr lang="en-US" dirty="0"/>
              <a:t> (Spectrograms) </a:t>
            </a:r>
            <a:r>
              <a:rPr lang="ar-SY" dirty="0"/>
              <a:t> </a:t>
            </a:r>
            <a:r>
              <a:rPr lang="en-US" dirty="0" err="1"/>
              <a:t>تعكس</a:t>
            </a:r>
            <a:r>
              <a:rPr lang="en-US" dirty="0"/>
              <a:t> </a:t>
            </a:r>
            <a:r>
              <a:rPr lang="en-US" dirty="0" err="1"/>
              <a:t>شدة</a:t>
            </a:r>
            <a:r>
              <a:rPr lang="en-US" dirty="0"/>
              <a:t> </a:t>
            </a:r>
            <a:r>
              <a:rPr lang="en-US" dirty="0" err="1"/>
              <a:t>الترددات</a:t>
            </a:r>
            <a:r>
              <a:rPr lang="en-US" dirty="0"/>
              <a:t> </a:t>
            </a:r>
            <a:r>
              <a:rPr lang="en-US" dirty="0" err="1"/>
              <a:t>مع</a:t>
            </a:r>
            <a:r>
              <a:rPr lang="en-US" dirty="0"/>
              <a:t> </a:t>
            </a:r>
            <a:r>
              <a:rPr lang="en-US" dirty="0" err="1"/>
              <a:t>الزمن</a:t>
            </a:r>
            <a:r>
              <a:rPr lang="en-US" dirty="0"/>
              <a:t>، </a:t>
            </a:r>
            <a:r>
              <a:rPr lang="en-US" dirty="0" err="1"/>
              <a:t>وهي</a:t>
            </a:r>
            <a:r>
              <a:rPr lang="en-US" dirty="0"/>
              <a:t> </a:t>
            </a:r>
            <a:r>
              <a:rPr lang="en-US" dirty="0" err="1"/>
              <a:t>ضرورية</a:t>
            </a:r>
            <a:r>
              <a:rPr lang="en-US" dirty="0"/>
              <a:t> </a:t>
            </a:r>
            <a:r>
              <a:rPr lang="en-US" dirty="0" err="1"/>
              <a:t>لتمكين</a:t>
            </a:r>
            <a:r>
              <a:rPr lang="en-US" dirty="0"/>
              <a:t> </a:t>
            </a:r>
            <a:r>
              <a:rPr lang="en-US" dirty="0" err="1"/>
              <a:t>الشبكات</a:t>
            </a:r>
            <a:r>
              <a:rPr lang="en-US" dirty="0"/>
              <a:t> </a:t>
            </a:r>
            <a:r>
              <a:rPr lang="ar-SY" dirty="0"/>
              <a:t>الالتفافية</a:t>
            </a:r>
            <a:r>
              <a:rPr lang="en-US" dirty="0"/>
              <a:t> (CNN)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قراءة</a:t>
            </a:r>
            <a:r>
              <a:rPr lang="en-US" dirty="0"/>
              <a:t> </a:t>
            </a:r>
            <a:r>
              <a:rPr lang="en-US" dirty="0" err="1"/>
              <a:t>الصوت</a:t>
            </a:r>
            <a:r>
              <a:rPr lang="en-US" dirty="0"/>
              <a:t> </a:t>
            </a:r>
            <a:r>
              <a:rPr lang="en-US" dirty="0" err="1"/>
              <a:t>كصورة</a:t>
            </a:r>
            <a:r>
              <a:rPr lang="ar-SY" dirty="0"/>
              <a:t>.</a:t>
            </a:r>
          </a:p>
          <a:p>
            <a:pPr marR="0" lvl="0">
              <a:spcBef>
                <a:spcPts val="600"/>
              </a:spcBef>
            </a:pPr>
            <a:r>
              <a:rPr lang="en-US" dirty="0"/>
              <a:t>[2026-Murty et al].</a:t>
            </a:r>
            <a:endParaRPr lang="ar-SY" dirty="0"/>
          </a:p>
          <a:p>
            <a:pPr marR="0" lvl="0">
              <a:spcBef>
                <a:spcPts val="600"/>
              </a:spcBef>
            </a:pPr>
            <a:endParaRPr lang="ar-SY" b="1" dirty="0"/>
          </a:p>
          <a:p>
            <a:pPr algn="r" rtl="1">
              <a:spcBef>
                <a:spcPts val="1800"/>
              </a:spcBef>
              <a:spcAft>
                <a:spcPts val="900"/>
              </a:spcAft>
            </a:pPr>
            <a:r>
              <a:rPr lang="en-US" b="1" dirty="0"/>
              <a:t>4</a:t>
            </a:r>
            <a:r>
              <a:rPr lang="ar-SY" b="1" dirty="0"/>
              <a:t>.</a:t>
            </a:r>
            <a:r>
              <a:rPr lang="ar-SY" sz="1800" b="1" u="none" strike="noStrike" dirty="0">
                <a:effectLst/>
                <a:latin typeface="+mn-lt"/>
              </a:rPr>
              <a:t> </a:t>
            </a:r>
            <a:r>
              <a:rPr lang="en-US" b="1" dirty="0" err="1"/>
              <a:t>معاملات</a:t>
            </a:r>
            <a:r>
              <a:rPr lang="ar-SY" b="1" dirty="0"/>
              <a:t> </a:t>
            </a:r>
            <a:r>
              <a:rPr lang="en-US" b="1" dirty="0"/>
              <a:t>MFCCs</a:t>
            </a:r>
            <a:r>
              <a:rPr lang="ar-SY" b="1" dirty="0"/>
              <a:t>:</a:t>
            </a:r>
          </a:p>
          <a:p>
            <a:pPr marL="0" marR="0" algn="r" rtl="1">
              <a:spcBef>
                <a:spcPts val="1800"/>
              </a:spcBef>
              <a:spcAft>
                <a:spcPts val="900"/>
              </a:spcAft>
              <a:buNone/>
            </a:pPr>
            <a:r>
              <a:rPr lang="ar-SY" sz="1800" b="1" u="none" strike="noStrike" dirty="0">
                <a:effectLst/>
                <a:latin typeface="+mn-lt"/>
              </a:rPr>
              <a:t>هي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ميزات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صوتية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تقليدية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تُستخرج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من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الطيف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الصوتي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بعد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ar-SY" dirty="0"/>
              <a:t>تعديل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الترددات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لتطابق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مقياس</a:t>
            </a:r>
            <a:r>
              <a:rPr lang="en-US" sz="1800" b="0" u="none" strike="noStrike" dirty="0">
                <a:effectLst/>
                <a:latin typeface="+mn-lt"/>
              </a:rPr>
              <a:t> "</a:t>
            </a:r>
            <a:r>
              <a:rPr lang="en-US" sz="1800" b="0" u="none" strike="noStrike" dirty="0" err="1">
                <a:effectLst/>
                <a:latin typeface="+mn-lt"/>
              </a:rPr>
              <a:t>مل</a:t>
            </a:r>
            <a:r>
              <a:rPr lang="en-US" sz="1800" b="0" u="none" strike="noStrike" dirty="0">
                <a:effectLst/>
                <a:latin typeface="+mn-lt"/>
              </a:rPr>
              <a:t>" (Mel-scale) </a:t>
            </a:r>
            <a:r>
              <a:rPr lang="en-US" sz="1800" b="0" u="none" strike="noStrike" dirty="0" err="1">
                <a:effectLst/>
                <a:latin typeface="+mn-lt"/>
              </a:rPr>
              <a:t>الذي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يحاكي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الإدراك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السمعي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للأذن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البشرية</a:t>
            </a:r>
            <a:r>
              <a:rPr lang="en-US" sz="1800" b="0" u="none" strike="noStrike" dirty="0">
                <a:effectLst/>
                <a:latin typeface="+mn-lt"/>
              </a:rPr>
              <a:t>. </a:t>
            </a:r>
            <a:r>
              <a:rPr lang="en-US" sz="1800" b="0" u="none" strike="noStrike" dirty="0" err="1">
                <a:effectLst/>
                <a:latin typeface="+mn-lt"/>
              </a:rPr>
              <a:t>تُستخدم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كقاعدة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أساسية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لالتقاط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النبرة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والخصائص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الفيزيائية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للجهاز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الصوتي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البشري</a:t>
            </a:r>
            <a:r>
              <a:rPr lang="ar-SY" sz="1800" b="0" u="none" strike="noStrike" dirty="0">
                <a:effectLst/>
                <a:latin typeface="+mn-lt"/>
              </a:rPr>
              <a:t>.</a:t>
            </a:r>
          </a:p>
          <a:p>
            <a:pPr marL="0" marR="0">
              <a:buNone/>
            </a:pPr>
            <a:r>
              <a:rPr lang="en-US" sz="1800" b="0" u="none" strike="noStrike" dirty="0">
                <a:effectLst/>
                <a:latin typeface="+mn-lt"/>
              </a:rPr>
              <a:t> [2026-Murty et al].</a:t>
            </a:r>
            <a:endParaRPr lang="ar-SY" sz="1800" b="0" u="none" strike="noStrike" dirty="0">
              <a:effectLst/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7F9979-330D-BE92-7993-16807840BD01}"/>
              </a:ext>
            </a:extLst>
          </p:cNvPr>
          <p:cNvCxnSpPr>
            <a:cxnSpLocks/>
          </p:cNvCxnSpPr>
          <p:nvPr/>
        </p:nvCxnSpPr>
        <p:spPr>
          <a:xfrm flipH="1">
            <a:off x="323528" y="908720"/>
            <a:ext cx="856895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9296112-9BCE-A8DB-7F24-B960CCCEC494}"/>
              </a:ext>
            </a:extLst>
          </p:cNvPr>
          <p:cNvSpPr txBox="1"/>
          <p:nvPr/>
        </p:nvSpPr>
        <p:spPr>
          <a:xfrm>
            <a:off x="467544" y="260648"/>
            <a:ext cx="8371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v"/>
            </a:pP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ا</a:t>
            </a:r>
            <a:r>
              <a:rPr lang="en-US" sz="2400" b="1" dirty="0" err="1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لأساسيات</a:t>
            </a:r>
            <a:r>
              <a:rPr lang="en-US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النظرية</a:t>
            </a: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 ـــ </a:t>
            </a:r>
            <a:r>
              <a:rPr lang="en-US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 (2\3)Theoretical Background</a:t>
            </a:r>
            <a:endParaRPr lang="ar-SY" sz="2400" b="1" dirty="0">
              <a:solidFill>
                <a:srgbClr val="002060"/>
              </a:solidFill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7" name="مربع نص 2">
            <a:extLst>
              <a:ext uri="{FF2B5EF4-FFF2-40B4-BE49-F238E27FC236}">
                <a16:creationId xmlns:a16="http://schemas.microsoft.com/office/drawing/2014/main" id="{77851448-06E4-A05D-6A05-32512CE64E06}"/>
              </a:ext>
            </a:extLst>
          </p:cNvPr>
          <p:cNvSpPr txBox="1"/>
          <p:nvPr/>
        </p:nvSpPr>
        <p:spPr>
          <a:xfrm>
            <a:off x="1979712" y="5762872"/>
            <a:ext cx="5184576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/>
              <a:t>FFT: </a:t>
            </a:r>
            <a:r>
              <a:rPr lang="en-US" dirty="0"/>
              <a:t>Fast Fourier Transform.</a:t>
            </a:r>
          </a:p>
          <a:p>
            <a:r>
              <a:rPr lang="en-US" b="1" dirty="0"/>
              <a:t>CNN: </a:t>
            </a:r>
            <a:r>
              <a:rPr lang="en-US" i="1" dirty="0"/>
              <a:t>Convolutional Neural Network.</a:t>
            </a:r>
          </a:p>
          <a:p>
            <a:r>
              <a:rPr lang="en-US" b="1" dirty="0"/>
              <a:t>MFCCs: </a:t>
            </a:r>
            <a:r>
              <a:rPr lang="en-US" dirty="0"/>
              <a:t>Mel-Frequency Cepstral Coefficients.</a:t>
            </a:r>
            <a:endParaRPr lang="ar-OM" i="1" dirty="0"/>
          </a:p>
        </p:txBody>
      </p:sp>
    </p:spTree>
    <p:extLst>
      <p:ext uri="{BB962C8B-B14F-4D97-AF65-F5344CB8AC3E}">
        <p14:creationId xmlns:p14="http://schemas.microsoft.com/office/powerpoint/2010/main" val="1299742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541B4A-0BF5-2E2C-443F-1BFA3CEA6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6CD18-08EE-9D5D-0D25-AA4D9F049690}"/>
              </a:ext>
            </a:extLst>
          </p:cNvPr>
          <p:cNvSpPr txBox="1"/>
          <p:nvPr/>
        </p:nvSpPr>
        <p:spPr>
          <a:xfrm>
            <a:off x="489315" y="865056"/>
            <a:ext cx="7956376" cy="4916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r" rtl="1">
              <a:spcBef>
                <a:spcPts val="1800"/>
              </a:spcBef>
              <a:spcAft>
                <a:spcPts val="900"/>
              </a:spcAft>
            </a:pPr>
            <a:r>
              <a:rPr lang="en-US" b="1" dirty="0"/>
              <a:t>5</a:t>
            </a:r>
            <a:r>
              <a:rPr lang="ar-SY" b="1" dirty="0"/>
              <a:t>. </a:t>
            </a:r>
            <a:r>
              <a:rPr lang="en-US" b="1" dirty="0" err="1"/>
              <a:t>التعلم</a:t>
            </a:r>
            <a:r>
              <a:rPr lang="en-US" b="1" dirty="0"/>
              <a:t> </a:t>
            </a:r>
            <a:r>
              <a:rPr lang="ar-SY" b="1" dirty="0" err="1"/>
              <a:t>لأستخراج</a:t>
            </a:r>
            <a:r>
              <a:rPr lang="ar-SY" b="1" dirty="0"/>
              <a:t> الميزات الصوتية </a:t>
            </a:r>
            <a:r>
              <a:rPr lang="en-US" b="1" dirty="0"/>
              <a:t> (SSL)</a:t>
            </a:r>
            <a:r>
              <a:rPr lang="ar-SY" b="1" dirty="0"/>
              <a:t>:</a:t>
            </a:r>
            <a:endParaRPr lang="en-US" b="1" dirty="0"/>
          </a:p>
          <a:p>
            <a:pPr marR="0" lvl="0" algn="r" rtl="1">
              <a:spcBef>
                <a:spcPts val="900"/>
              </a:spcBef>
              <a:spcAft>
                <a:spcPts val="1200"/>
              </a:spcAft>
            </a:pPr>
            <a:r>
              <a:rPr lang="en-US" dirty="0" err="1"/>
              <a:t>استخراج</a:t>
            </a:r>
            <a:r>
              <a:rPr lang="en-US" dirty="0"/>
              <a:t> </a:t>
            </a:r>
            <a:r>
              <a:rPr lang="en-US" dirty="0" err="1"/>
              <a:t>ميزات</a:t>
            </a:r>
            <a:r>
              <a:rPr lang="en-US" dirty="0"/>
              <a:t> </a:t>
            </a:r>
            <a:r>
              <a:rPr lang="en-US" dirty="0" err="1"/>
              <a:t>عالية</a:t>
            </a:r>
            <a:r>
              <a:rPr lang="en-US" dirty="0"/>
              <a:t> </a:t>
            </a:r>
            <a:r>
              <a:rPr lang="en-US" dirty="0" err="1"/>
              <a:t>المستوى</a:t>
            </a:r>
            <a:r>
              <a:rPr lang="en-US" dirty="0"/>
              <a:t> </a:t>
            </a:r>
            <a:r>
              <a:rPr lang="en-US" dirty="0" err="1"/>
              <a:t>وعميقة</a:t>
            </a:r>
            <a:r>
              <a:rPr lang="en-US" dirty="0"/>
              <a:t> </a:t>
            </a:r>
            <a:r>
              <a:rPr lang="en-US" dirty="0" err="1"/>
              <a:t>باستخدام</a:t>
            </a:r>
            <a:r>
              <a:rPr lang="en-US" dirty="0"/>
              <a:t> </a:t>
            </a:r>
            <a:r>
              <a:rPr lang="en-US" dirty="0" err="1"/>
              <a:t>نماذج</a:t>
            </a:r>
            <a:r>
              <a:rPr lang="en-US" dirty="0"/>
              <a:t> </a:t>
            </a:r>
            <a:r>
              <a:rPr lang="en-US" dirty="0" err="1"/>
              <a:t>صوتية</a:t>
            </a:r>
            <a:r>
              <a:rPr lang="en-US" dirty="0"/>
              <a:t> </a:t>
            </a:r>
            <a:r>
              <a:rPr lang="en-US" dirty="0" err="1"/>
              <a:t>ضخمة</a:t>
            </a:r>
            <a:r>
              <a:rPr lang="en-US" dirty="0"/>
              <a:t> </a:t>
            </a:r>
            <a:r>
              <a:rPr lang="en-US" dirty="0" err="1"/>
              <a:t>مدربة</a:t>
            </a:r>
            <a:r>
              <a:rPr lang="en-US" dirty="0"/>
              <a:t> </a:t>
            </a:r>
            <a:r>
              <a:rPr lang="en-US" dirty="0" err="1"/>
              <a:t>مسبقاً</a:t>
            </a:r>
            <a:r>
              <a:rPr lang="en-US" dirty="0"/>
              <a:t> </a:t>
            </a:r>
            <a:r>
              <a:rPr lang="ar-SY" dirty="0"/>
              <a:t>(</a:t>
            </a:r>
            <a:r>
              <a:rPr lang="en-US" dirty="0" err="1"/>
              <a:t>مثل</a:t>
            </a:r>
            <a:r>
              <a:rPr lang="en-US" dirty="0"/>
              <a:t> </a:t>
            </a:r>
            <a:r>
              <a:rPr lang="en-US" b="1" dirty="0"/>
              <a:t>Wav2Vec 2.0</a:t>
            </a:r>
            <a:r>
              <a:rPr lang="en-US" dirty="0"/>
              <a:t> </a:t>
            </a:r>
            <a:r>
              <a:rPr lang="ar-SY" dirty="0"/>
              <a:t> </a:t>
            </a:r>
            <a:r>
              <a:rPr lang="en-US" dirty="0" err="1"/>
              <a:t>أو</a:t>
            </a:r>
            <a:r>
              <a:rPr lang="en-US" dirty="0"/>
              <a:t> </a:t>
            </a:r>
            <a:r>
              <a:rPr lang="en-US" b="1" dirty="0" err="1"/>
              <a:t>HuBERT</a:t>
            </a:r>
            <a:r>
              <a:rPr lang="ar-SY" dirty="0"/>
              <a:t>). </a:t>
            </a:r>
            <a:r>
              <a:rPr lang="en-US" dirty="0"/>
              <a:t> </a:t>
            </a:r>
            <a:r>
              <a:rPr lang="en-US" dirty="0" err="1"/>
              <a:t>تكمن</a:t>
            </a:r>
            <a:r>
              <a:rPr lang="en-US" dirty="0"/>
              <a:t> </a:t>
            </a:r>
            <a:r>
              <a:rPr lang="en-US" dirty="0" err="1"/>
              <a:t>أهميتها</a:t>
            </a:r>
            <a:r>
              <a:rPr lang="en-US" dirty="0"/>
              <a:t> </a:t>
            </a:r>
            <a:r>
              <a:rPr lang="en-US" dirty="0" err="1"/>
              <a:t>النظرية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قدرتها</a:t>
            </a:r>
            <a:r>
              <a:rPr lang="en-US" dirty="0"/>
              <a:t> </a:t>
            </a:r>
            <a:r>
              <a:rPr lang="en-US" dirty="0" err="1"/>
              <a:t>على</a:t>
            </a:r>
            <a:r>
              <a:rPr lang="en-US" dirty="0"/>
              <a:t> </a:t>
            </a:r>
            <a:r>
              <a:rPr lang="en-US" dirty="0" err="1"/>
              <a:t>التقاط</a:t>
            </a:r>
            <a:r>
              <a:rPr lang="en-US" dirty="0"/>
              <a:t> </a:t>
            </a:r>
            <a:r>
              <a:rPr lang="en-US" dirty="0" err="1"/>
              <a:t>التمثيلات</a:t>
            </a:r>
            <a:r>
              <a:rPr lang="en-US" dirty="0"/>
              <a:t> </a:t>
            </a:r>
            <a:r>
              <a:rPr lang="en-US" dirty="0" err="1"/>
              <a:t>الدقيقة</a:t>
            </a:r>
            <a:r>
              <a:rPr lang="en-US" dirty="0"/>
              <a:t> </a:t>
            </a:r>
            <a:r>
              <a:rPr lang="en-US" dirty="0" err="1"/>
              <a:t>والثغرات</a:t>
            </a:r>
            <a:r>
              <a:rPr lang="en-US" dirty="0"/>
              <a:t> </a:t>
            </a:r>
            <a:r>
              <a:rPr lang="en-US" dirty="0" err="1"/>
              <a:t>الاصطناعية</a:t>
            </a:r>
            <a:r>
              <a:rPr lang="en-US" dirty="0"/>
              <a:t> (Artifacts) </a:t>
            </a:r>
            <a:r>
              <a:rPr lang="en-US" dirty="0" err="1"/>
              <a:t>التي</a:t>
            </a:r>
            <a:r>
              <a:rPr lang="en-US" dirty="0"/>
              <a:t> </a:t>
            </a:r>
            <a:r>
              <a:rPr lang="en-US" dirty="0" err="1"/>
              <a:t>تتركها</a:t>
            </a:r>
            <a:r>
              <a:rPr lang="en-US" dirty="0"/>
              <a:t> </a:t>
            </a:r>
            <a:r>
              <a:rPr lang="en-US" dirty="0" err="1"/>
              <a:t>مولدات</a:t>
            </a:r>
            <a:r>
              <a:rPr lang="en-US" dirty="0"/>
              <a:t> </a:t>
            </a:r>
            <a:r>
              <a:rPr lang="en-US" dirty="0" err="1"/>
              <a:t>الصوت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النطق</a:t>
            </a:r>
            <a:r>
              <a:rPr lang="en-US" dirty="0"/>
              <a:t> </a:t>
            </a:r>
            <a:r>
              <a:rPr lang="en-US" dirty="0" err="1"/>
              <a:t>العربي</a:t>
            </a:r>
            <a:r>
              <a:rPr lang="ar-SY" dirty="0"/>
              <a:t>.</a:t>
            </a:r>
          </a:p>
          <a:p>
            <a:pPr lvl="0">
              <a:spcBef>
                <a:spcPts val="900"/>
              </a:spcBef>
              <a:spcAft>
                <a:spcPts val="1200"/>
              </a:spcAft>
            </a:pPr>
            <a:r>
              <a:rPr lang="en-US" dirty="0"/>
              <a:t> [2024 Awaad et al.].</a:t>
            </a:r>
            <a:endParaRPr lang="ar-SY" b="1" dirty="0"/>
          </a:p>
          <a:p>
            <a:pPr marL="0" marR="0" algn="r" rtl="1"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b="1" dirty="0"/>
              <a:t>6</a:t>
            </a:r>
            <a:r>
              <a:rPr lang="ar-SY" b="1" dirty="0"/>
              <a:t>. </a:t>
            </a:r>
            <a:r>
              <a:rPr lang="en-US" b="1" dirty="0" err="1"/>
              <a:t>التعلم</a:t>
            </a:r>
            <a:r>
              <a:rPr lang="en-US" b="1" dirty="0"/>
              <a:t> </a:t>
            </a:r>
            <a:r>
              <a:rPr lang="en-US" b="1" dirty="0" err="1"/>
              <a:t>المتسق</a:t>
            </a:r>
            <a:r>
              <a:rPr lang="en-US" b="1" dirty="0"/>
              <a:t> </a:t>
            </a:r>
            <a:r>
              <a:rPr lang="en-US" b="1" dirty="0" err="1"/>
              <a:t>الموجه</a:t>
            </a:r>
            <a:r>
              <a:rPr lang="en-US" b="1" dirty="0"/>
              <a:t> </a:t>
            </a:r>
            <a:r>
              <a:rPr lang="en-US" b="1" dirty="0" err="1"/>
              <a:t>بالصوتيات</a:t>
            </a:r>
            <a:r>
              <a:rPr lang="en-US" b="1" dirty="0"/>
              <a:t> (PCL</a:t>
            </a:r>
            <a:r>
              <a:rPr lang="en-US" sz="1800" b="1" dirty="0"/>
              <a:t>)</a:t>
            </a:r>
          </a:p>
          <a:p>
            <a:pPr marR="0" lvl="0" algn="r" rtl="1">
              <a:spcBef>
                <a:spcPts val="900"/>
              </a:spcBef>
              <a:spcAft>
                <a:spcPts val="1200"/>
              </a:spcAft>
            </a:pPr>
            <a:r>
              <a:rPr lang="en-US" sz="1800" b="0" u="none" strike="noStrike" dirty="0" err="1">
                <a:effectLst/>
                <a:latin typeface="+mn-lt"/>
              </a:rPr>
              <a:t>تقنية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معالجة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متقدمة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تُستخدم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أثناء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تدريب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النموذج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لربط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الخصائص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الصوتية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المستخرجة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بالفونيمات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اللغوية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ar-SY" sz="1800" b="0" u="none" strike="noStrike" dirty="0">
                <a:effectLst/>
                <a:latin typeface="+mn-lt"/>
              </a:rPr>
              <a:t>(</a:t>
            </a:r>
            <a:r>
              <a:rPr lang="en-US" sz="1800" b="0" u="none" strike="noStrike" dirty="0" err="1">
                <a:effectLst/>
                <a:latin typeface="+mn-lt"/>
              </a:rPr>
              <a:t>أصغر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وحدة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صوتية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في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اللغة</a:t>
            </a:r>
            <a:r>
              <a:rPr lang="ar-SY" dirty="0"/>
              <a:t>). </a:t>
            </a:r>
            <a:r>
              <a:rPr lang="en-US" sz="1800" b="0" u="none" strike="noStrike" dirty="0" err="1">
                <a:effectLst/>
                <a:latin typeface="+mn-lt"/>
              </a:rPr>
              <a:t>الهدف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منها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هو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جعل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عملية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استخراج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الميزات</a:t>
            </a:r>
            <a:r>
              <a:rPr lang="en-US" sz="1800" b="0" u="none" strike="noStrike" dirty="0">
                <a:effectLst/>
                <a:latin typeface="+mn-lt"/>
              </a:rPr>
              <a:t> "</a:t>
            </a:r>
            <a:r>
              <a:rPr lang="en-US" sz="1800" b="0" u="none" strike="noStrike" dirty="0" err="1">
                <a:effectLst/>
                <a:latin typeface="+mn-lt"/>
              </a:rPr>
              <a:t>متسقة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وثابتة</a:t>
            </a:r>
            <a:r>
              <a:rPr lang="en-US" sz="1800" b="0" u="none" strike="noStrike" dirty="0">
                <a:effectLst/>
                <a:latin typeface="+mn-lt"/>
              </a:rPr>
              <a:t>" </a:t>
            </a:r>
            <a:r>
              <a:rPr lang="en-US" sz="1800" b="0" u="none" strike="noStrike" dirty="0" err="1">
                <a:effectLst/>
                <a:latin typeface="+mn-lt"/>
              </a:rPr>
              <a:t>ومقاومة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لتغير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المنصات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أو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تشوهات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الضغط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الرقمي</a:t>
            </a:r>
            <a:r>
              <a:rPr lang="ar-SY" sz="1800" b="0" u="none" strike="noStrike" dirty="0">
                <a:effectLst/>
                <a:latin typeface="+mn-lt"/>
              </a:rPr>
              <a:t>.</a:t>
            </a:r>
          </a:p>
          <a:p>
            <a:pPr marR="0" lvl="0" algn="l"/>
            <a:r>
              <a:rPr lang="en-US" sz="1800" b="0" u="none" strike="noStrike" dirty="0">
                <a:effectLst/>
                <a:latin typeface="+mn-lt"/>
              </a:rPr>
              <a:t> [2026-Xue et al].</a:t>
            </a:r>
            <a:endParaRPr lang="ar-SY" sz="1800" b="0" u="none" strike="noStrike" dirty="0">
              <a:effectLst/>
              <a:latin typeface="+mn-lt"/>
            </a:endParaRPr>
          </a:p>
          <a:p>
            <a:pPr marR="0" lvl="0" algn="l"/>
            <a:endParaRPr lang="en-US" sz="1800" b="0" u="none" strike="noStrike" dirty="0">
              <a:effectLst/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EE24BE-381B-FFA6-8622-398E9B2A54FA}"/>
              </a:ext>
            </a:extLst>
          </p:cNvPr>
          <p:cNvCxnSpPr>
            <a:cxnSpLocks/>
          </p:cNvCxnSpPr>
          <p:nvPr/>
        </p:nvCxnSpPr>
        <p:spPr>
          <a:xfrm flipH="1">
            <a:off x="323528" y="908720"/>
            <a:ext cx="856895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43E5288-1ECE-C734-C06B-417F5BB478F1}"/>
              </a:ext>
            </a:extLst>
          </p:cNvPr>
          <p:cNvSpPr txBox="1"/>
          <p:nvPr/>
        </p:nvSpPr>
        <p:spPr>
          <a:xfrm>
            <a:off x="467544" y="260648"/>
            <a:ext cx="8371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v"/>
            </a:pP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ا</a:t>
            </a:r>
            <a:r>
              <a:rPr lang="en-US" sz="2400" b="1" dirty="0" err="1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لأساسيات</a:t>
            </a:r>
            <a:r>
              <a:rPr lang="en-US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النظرية</a:t>
            </a: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 ـــ </a:t>
            </a:r>
            <a:r>
              <a:rPr lang="en-US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 (3\3)Theoretical Background</a:t>
            </a:r>
            <a:endParaRPr lang="ar-SY" sz="2400" b="1" dirty="0">
              <a:solidFill>
                <a:srgbClr val="002060"/>
              </a:solidFill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C951A4E1-75B5-0282-0C98-23255EAC6126}"/>
              </a:ext>
            </a:extLst>
          </p:cNvPr>
          <p:cNvSpPr txBox="1"/>
          <p:nvPr/>
        </p:nvSpPr>
        <p:spPr>
          <a:xfrm>
            <a:off x="2590801" y="6021288"/>
            <a:ext cx="536557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/>
              <a:t>SSL: </a:t>
            </a:r>
            <a:r>
              <a:rPr lang="en-US" dirty="0"/>
              <a:t>Self-Supervised Learning Features</a:t>
            </a:r>
            <a:r>
              <a:rPr lang="en-US" b="1" dirty="0"/>
              <a:t>.</a:t>
            </a:r>
            <a:endParaRPr lang="ar-SY" b="1" dirty="0"/>
          </a:p>
          <a:p>
            <a:r>
              <a:rPr lang="en-US" b="1" dirty="0"/>
              <a:t>PCL: </a:t>
            </a:r>
            <a:r>
              <a:rPr lang="en-US" dirty="0"/>
              <a:t>Phoneme-Guided Consistency Learning</a:t>
            </a:r>
            <a:r>
              <a:rPr lang="en-US" b="1" dirty="0"/>
              <a:t>.</a:t>
            </a:r>
            <a:endParaRPr lang="ar-OM" dirty="0"/>
          </a:p>
        </p:txBody>
      </p:sp>
    </p:spTree>
    <p:extLst>
      <p:ext uri="{BB962C8B-B14F-4D97-AF65-F5344CB8AC3E}">
        <p14:creationId xmlns:p14="http://schemas.microsoft.com/office/powerpoint/2010/main" val="2121227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9F9CA9-5BA9-0CEB-08F2-8ABC06B1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DCF7C-06C9-03F2-4BD6-2619740A3973}"/>
              </a:ext>
            </a:extLst>
          </p:cNvPr>
          <p:cNvSpPr txBox="1"/>
          <p:nvPr/>
        </p:nvSpPr>
        <p:spPr>
          <a:xfrm>
            <a:off x="909936" y="1875867"/>
            <a:ext cx="7776864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1800"/>
              </a:spcBef>
              <a:spcAft>
                <a:spcPts val="900"/>
              </a:spcAft>
            </a:pPr>
            <a:r>
              <a:rPr lang="en-US" sz="1800" b="1" dirty="0"/>
              <a:t>7</a:t>
            </a:r>
            <a:r>
              <a:rPr lang="ar-SY" sz="1800" b="1" dirty="0"/>
              <a:t>. </a:t>
            </a:r>
            <a:r>
              <a:rPr lang="en-US" sz="1800" b="1" dirty="0" err="1"/>
              <a:t>دمج</a:t>
            </a:r>
            <a:r>
              <a:rPr lang="en-US" sz="1800" b="1" dirty="0"/>
              <a:t> </a:t>
            </a:r>
            <a:r>
              <a:rPr lang="en-US" sz="1800" b="1" dirty="0" err="1"/>
              <a:t>الميزات</a:t>
            </a:r>
            <a:r>
              <a:rPr lang="en-US" sz="1800" b="1" dirty="0"/>
              <a:t> (Feature Fusion)</a:t>
            </a:r>
            <a:r>
              <a:rPr lang="ar-SY" sz="1800" b="1" dirty="0"/>
              <a:t>: </a:t>
            </a:r>
            <a:r>
              <a:rPr lang="ar-SY" dirty="0"/>
              <a:t>وهي </a:t>
            </a:r>
            <a:r>
              <a:rPr lang="en-US" dirty="0" err="1"/>
              <a:t>المرحلة</a:t>
            </a:r>
            <a:r>
              <a:rPr lang="en-US" dirty="0"/>
              <a:t> </a:t>
            </a:r>
            <a:r>
              <a:rPr lang="en-US" dirty="0" err="1"/>
              <a:t>النظرية</a:t>
            </a:r>
            <a:r>
              <a:rPr lang="en-US" dirty="0"/>
              <a:t> </a:t>
            </a:r>
            <a:r>
              <a:rPr lang="en-US" dirty="0" err="1"/>
              <a:t>الأخيرة</a:t>
            </a:r>
            <a:r>
              <a:rPr lang="en-US" dirty="0"/>
              <a:t> </a:t>
            </a:r>
            <a:r>
              <a:rPr lang="en-US" dirty="0" err="1"/>
              <a:t>في</a:t>
            </a:r>
            <a:r>
              <a:rPr lang="en-US" dirty="0"/>
              <a:t> </a:t>
            </a:r>
            <a:r>
              <a:rPr lang="en-US" dirty="0" err="1"/>
              <a:t>معالجة</a:t>
            </a:r>
            <a:r>
              <a:rPr lang="en-US" dirty="0"/>
              <a:t> </a:t>
            </a:r>
            <a:r>
              <a:rPr lang="en-US" dirty="0" err="1"/>
              <a:t>الخصائص</a:t>
            </a:r>
            <a:r>
              <a:rPr lang="en-US" dirty="0"/>
              <a:t>، </a:t>
            </a:r>
            <a:r>
              <a:rPr lang="en-US" dirty="0" err="1"/>
              <a:t>حيث</a:t>
            </a:r>
            <a:r>
              <a:rPr lang="en-US" dirty="0"/>
              <a:t> </a:t>
            </a:r>
            <a:r>
              <a:rPr lang="en-US" dirty="0" err="1"/>
              <a:t>يتم</a:t>
            </a:r>
            <a:r>
              <a:rPr lang="en-US" dirty="0"/>
              <a:t> </a:t>
            </a:r>
            <a:r>
              <a:rPr lang="en-US" dirty="0" err="1"/>
              <a:t>دمج</a:t>
            </a:r>
            <a:r>
              <a:rPr lang="en-US" dirty="0"/>
              <a:t> </a:t>
            </a:r>
            <a:r>
              <a:rPr lang="en-US" dirty="0" err="1"/>
              <a:t>الميزات</a:t>
            </a:r>
            <a:r>
              <a:rPr lang="en-US" dirty="0"/>
              <a:t> </a:t>
            </a:r>
            <a:r>
              <a:rPr lang="en-US" dirty="0" err="1"/>
              <a:t>المكانية</a:t>
            </a:r>
            <a:r>
              <a:rPr lang="en-US" dirty="0"/>
              <a:t> </a:t>
            </a:r>
            <a:r>
              <a:rPr lang="ar-SY" dirty="0"/>
              <a:t>(</a:t>
            </a:r>
            <a:r>
              <a:rPr lang="en-US" dirty="0" err="1"/>
              <a:t>المستخرجة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ال</a:t>
            </a:r>
            <a:r>
              <a:rPr lang="en-US" dirty="0"/>
              <a:t>ـ CNN </a:t>
            </a:r>
            <a:r>
              <a:rPr lang="en-US" dirty="0" err="1"/>
              <a:t>عبر</a:t>
            </a:r>
            <a:r>
              <a:rPr lang="en-US" dirty="0"/>
              <a:t> </a:t>
            </a:r>
            <a:r>
              <a:rPr lang="en-US" dirty="0" err="1"/>
              <a:t>ال</a:t>
            </a:r>
            <a:r>
              <a:rPr lang="en-US" dirty="0"/>
              <a:t>ـ Spectrograms </a:t>
            </a:r>
            <a:r>
              <a:rPr lang="ar-SY" dirty="0"/>
              <a:t>) </a:t>
            </a:r>
            <a:r>
              <a:rPr lang="en-US" dirty="0" err="1"/>
              <a:t>مع</a:t>
            </a:r>
            <a:r>
              <a:rPr lang="en-US" dirty="0"/>
              <a:t> </a:t>
            </a:r>
            <a:r>
              <a:rPr lang="en-US" dirty="0" err="1"/>
              <a:t>الميزات</a:t>
            </a:r>
            <a:r>
              <a:rPr lang="en-US" dirty="0"/>
              <a:t> </a:t>
            </a:r>
            <a:r>
              <a:rPr lang="en-US" dirty="0" err="1"/>
              <a:t>السياقية</a:t>
            </a:r>
            <a:r>
              <a:rPr lang="en-US" dirty="0"/>
              <a:t> </a:t>
            </a:r>
            <a:r>
              <a:rPr lang="en-US" dirty="0" err="1"/>
              <a:t>والزمنية</a:t>
            </a:r>
            <a:r>
              <a:rPr lang="en-US" dirty="0"/>
              <a:t>. </a:t>
            </a:r>
            <a:r>
              <a:rPr lang="en-US" dirty="0" err="1"/>
              <a:t>هذا</a:t>
            </a:r>
            <a:r>
              <a:rPr lang="en-US" dirty="0"/>
              <a:t> </a:t>
            </a:r>
            <a:r>
              <a:rPr lang="en-US" dirty="0" err="1"/>
              <a:t>الدمج</a:t>
            </a:r>
            <a:r>
              <a:rPr lang="en-US" dirty="0"/>
              <a:t> </a:t>
            </a:r>
            <a:r>
              <a:rPr lang="en-US" dirty="0" err="1"/>
              <a:t>الهجين</a:t>
            </a:r>
            <a:r>
              <a:rPr lang="en-US" dirty="0"/>
              <a:t> </a:t>
            </a:r>
            <a:r>
              <a:rPr lang="en-US" dirty="0" err="1"/>
              <a:t>يمنح</a:t>
            </a:r>
            <a:r>
              <a:rPr lang="en-US" dirty="0"/>
              <a:t> </a:t>
            </a:r>
            <a:r>
              <a:rPr lang="en-US" dirty="0" err="1"/>
              <a:t>النموذج</a:t>
            </a:r>
            <a:r>
              <a:rPr lang="en-US" dirty="0"/>
              <a:t> </a:t>
            </a:r>
            <a:r>
              <a:rPr lang="en-US" dirty="0" err="1"/>
              <a:t>معطيات</a:t>
            </a:r>
            <a:r>
              <a:rPr lang="en-US" dirty="0"/>
              <a:t> </a:t>
            </a:r>
            <a:r>
              <a:rPr lang="en-US" dirty="0" err="1"/>
              <a:t>متكاملة</a:t>
            </a:r>
            <a:r>
              <a:rPr lang="en-US" dirty="0"/>
              <a:t> </a:t>
            </a:r>
            <a:r>
              <a:rPr lang="en-US" dirty="0" err="1"/>
              <a:t>تدعم</a:t>
            </a:r>
            <a:r>
              <a:rPr lang="en-US" dirty="0"/>
              <a:t> </a:t>
            </a:r>
            <a:r>
              <a:rPr lang="en-US" dirty="0" err="1"/>
              <a:t>اتخاذ</a:t>
            </a:r>
            <a:r>
              <a:rPr lang="en-US" dirty="0"/>
              <a:t> </a:t>
            </a:r>
            <a:r>
              <a:rPr lang="en-US" dirty="0" err="1"/>
              <a:t>قرار</a:t>
            </a:r>
            <a:r>
              <a:rPr lang="en-US" dirty="0"/>
              <a:t> </a:t>
            </a:r>
            <a:r>
              <a:rPr lang="en-US" dirty="0" err="1"/>
              <a:t>التصنيف</a:t>
            </a:r>
            <a:r>
              <a:rPr lang="en-US" dirty="0"/>
              <a:t> </a:t>
            </a:r>
            <a:r>
              <a:rPr lang="en-US" dirty="0" err="1"/>
              <a:t>بدقة</a:t>
            </a:r>
            <a:r>
              <a:rPr lang="en-US" dirty="0"/>
              <a:t> </a:t>
            </a:r>
            <a:r>
              <a:rPr lang="en-US" dirty="0" err="1"/>
              <a:t>وسرعة</a:t>
            </a:r>
            <a:r>
              <a:rPr lang="ar-SY" dirty="0"/>
              <a:t>.</a:t>
            </a:r>
          </a:p>
          <a:p>
            <a:pPr rtl="1">
              <a:spcBef>
                <a:spcPts val="1800"/>
              </a:spcBef>
              <a:spcAft>
                <a:spcPts val="900"/>
              </a:spcAft>
            </a:pPr>
            <a:r>
              <a:rPr lang="en-US" dirty="0"/>
              <a:t> [2026-Murty et al].</a:t>
            </a:r>
            <a:endParaRPr lang="ar-SY" sz="1800" b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EC4EC1F-C7F6-49CE-227D-19472FF23F02}"/>
              </a:ext>
            </a:extLst>
          </p:cNvPr>
          <p:cNvCxnSpPr>
            <a:cxnSpLocks/>
          </p:cNvCxnSpPr>
          <p:nvPr/>
        </p:nvCxnSpPr>
        <p:spPr>
          <a:xfrm flipH="1">
            <a:off x="323528" y="908720"/>
            <a:ext cx="856895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AC975EF-9370-F2A4-4AB8-FDBEACEAD25A}"/>
              </a:ext>
            </a:extLst>
          </p:cNvPr>
          <p:cNvSpPr txBox="1"/>
          <p:nvPr/>
        </p:nvSpPr>
        <p:spPr>
          <a:xfrm>
            <a:off x="467544" y="260648"/>
            <a:ext cx="8371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v"/>
            </a:pP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ا</a:t>
            </a:r>
            <a:r>
              <a:rPr lang="en-US" sz="2400" b="1" dirty="0" err="1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لأساسيات</a:t>
            </a:r>
            <a:r>
              <a:rPr lang="en-US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النظرية</a:t>
            </a: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 ـــ </a:t>
            </a:r>
            <a:r>
              <a:rPr lang="en-US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 (3\3)Theoretical Background</a:t>
            </a:r>
            <a:endParaRPr lang="ar-SY" sz="2400" b="1" dirty="0">
              <a:solidFill>
                <a:srgbClr val="002060"/>
              </a:solidFill>
              <a:latin typeface="Simplified Arabic" pitchFamily="18" charset="-78"/>
              <a:cs typeface="Simplified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63621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F61A8-F7E4-92DD-52AA-59965F5B5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BD1C0-B63D-9EC3-36A6-634073C6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9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4991BF-616C-FBFB-9C3C-1B080FF8F3DC}"/>
              </a:ext>
            </a:extLst>
          </p:cNvPr>
          <p:cNvCxnSpPr>
            <a:cxnSpLocks/>
          </p:cNvCxnSpPr>
          <p:nvPr/>
        </p:nvCxnSpPr>
        <p:spPr>
          <a:xfrm flipH="1">
            <a:off x="323528" y="908720"/>
            <a:ext cx="856895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E808F38-A2FA-1BD2-F2D9-1F96194F4B73}"/>
              </a:ext>
            </a:extLst>
          </p:cNvPr>
          <p:cNvSpPr txBox="1"/>
          <p:nvPr/>
        </p:nvSpPr>
        <p:spPr>
          <a:xfrm>
            <a:off x="467544" y="260648"/>
            <a:ext cx="8371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v"/>
            </a:pP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الدراسات المرجعية ـــ </a:t>
            </a:r>
            <a:r>
              <a:rPr lang="en-US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Literature Review</a:t>
            </a: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E51ACF-4E6B-F476-0758-140EF4A73D45}"/>
              </a:ext>
            </a:extLst>
          </p:cNvPr>
          <p:cNvSpPr txBox="1"/>
          <p:nvPr/>
        </p:nvSpPr>
        <p:spPr>
          <a:xfrm>
            <a:off x="323528" y="1772816"/>
            <a:ext cx="856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GB" sz="1800" b="1" dirty="0"/>
              <a:t>Xue, et al. 2026. "Rtcfake: Speech deepfake detection in real-time communication." </a:t>
            </a:r>
            <a:r>
              <a:rPr lang="en-GB" sz="1800" b="1" i="1" dirty="0"/>
              <a:t>ACL</a:t>
            </a:r>
            <a:r>
              <a:rPr lang="en-GB" sz="1800" b="1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C24AC-25B0-CC10-284F-A4C6DE8BDC13}"/>
              </a:ext>
            </a:extLst>
          </p:cNvPr>
          <p:cNvSpPr txBox="1"/>
          <p:nvPr/>
        </p:nvSpPr>
        <p:spPr>
          <a:xfrm>
            <a:off x="4282774" y="980728"/>
            <a:ext cx="4609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sz="2400" b="1" u="sng" dirty="0">
                <a:cs typeface="Simplified Arabic" panose="02020603050405020304" pitchFamily="18" charset="-78"/>
              </a:rPr>
              <a:t>الدراسة الأولى (</a:t>
            </a:r>
            <a:r>
              <a:rPr lang="en-US" sz="2400" b="1" u="sng" dirty="0">
                <a:cs typeface="Simplified Arabic" panose="02020603050405020304" pitchFamily="18" charset="-78"/>
              </a:rPr>
              <a:t>1</a:t>
            </a:r>
            <a:r>
              <a:rPr lang="ar-SY" sz="2400" b="1" u="sng" dirty="0">
                <a:cs typeface="Simplified Arabic" panose="02020603050405020304" pitchFamily="18" charset="-78"/>
              </a:rPr>
              <a:t>/</a:t>
            </a:r>
            <a:r>
              <a:rPr lang="en-US" sz="2400" b="1" u="sng" dirty="0">
                <a:cs typeface="Simplified Arabic" panose="02020603050405020304" pitchFamily="18" charset="-78"/>
              </a:rPr>
              <a:t>1</a:t>
            </a:r>
            <a:r>
              <a:rPr lang="ar-SY" sz="2400" b="1" u="sng" dirty="0">
                <a:cs typeface="Simplified Arabic" panose="02020603050405020304" pitchFamily="18" charset="-78"/>
              </a:rPr>
              <a:t>)</a:t>
            </a:r>
            <a:endParaRPr lang="en-US" sz="2400" u="sng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5DABD22F-B28E-70D4-D141-B20A95BF519C}"/>
              </a:ext>
            </a:extLst>
          </p:cNvPr>
          <p:cNvSpPr txBox="1"/>
          <p:nvPr/>
        </p:nvSpPr>
        <p:spPr>
          <a:xfrm>
            <a:off x="467544" y="3006243"/>
            <a:ext cx="813690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OM" b="1" dirty="0"/>
              <a:t>هدف الدراسة:</a:t>
            </a:r>
            <a:r>
              <a:rPr lang="ar-OM" dirty="0"/>
              <a:t> معالجة قصور النماذج التقليدية أمام التشوهات المعقدة </a:t>
            </a:r>
            <a:r>
              <a:rPr lang="ar-SY" dirty="0"/>
              <a:t>في </a:t>
            </a:r>
            <a:r>
              <a:rPr lang="ar-OM" dirty="0"/>
              <a:t>منصات الاتصال </a:t>
            </a:r>
            <a:r>
              <a:rPr lang="ar-SY" dirty="0"/>
              <a:t>المباشر</a:t>
            </a:r>
            <a:r>
              <a:rPr lang="ar-OM" dirty="0"/>
              <a:t> وتقديم أول مجموعة بيانات متخصصة. </a:t>
            </a: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A7995381-00B2-219D-7764-6E48557F3F93}"/>
              </a:ext>
            </a:extLst>
          </p:cNvPr>
          <p:cNvSpPr txBox="1"/>
          <p:nvPr/>
        </p:nvSpPr>
        <p:spPr>
          <a:xfrm>
            <a:off x="251520" y="4062410"/>
            <a:ext cx="835292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OM" b="1" dirty="0"/>
              <a:t>الخطوات الأساسية:</a:t>
            </a:r>
            <a:r>
              <a:rPr lang="ar-OM" dirty="0"/>
              <a:t> توليد وتجميع أصوات حقيقية ومزيفة، تمريرها عبر </a:t>
            </a:r>
            <a:r>
              <a:rPr lang="en-US" dirty="0"/>
              <a:t>7</a:t>
            </a:r>
            <a:r>
              <a:rPr lang="ar-OM" dirty="0"/>
              <a:t> منصات تواصل لإنشاء أزواج بيانات (</a:t>
            </a:r>
            <a:r>
              <a:rPr lang="ar-OM" dirty="0" err="1"/>
              <a:t>أوفلاين</a:t>
            </a:r>
            <a:r>
              <a:rPr lang="ar-OM" dirty="0"/>
              <a:t>/أونلاين) مع محاكاة الضوضاء.</a:t>
            </a:r>
          </a:p>
        </p:txBody>
      </p:sp>
    </p:spTree>
    <p:extLst>
      <p:ext uri="{BB962C8B-B14F-4D97-AF65-F5344CB8AC3E}">
        <p14:creationId xmlns:p14="http://schemas.microsoft.com/office/powerpoint/2010/main" val="1574520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C636D-E408-64B2-D0B8-5FBC9BE85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4822-E3EA-3923-5A8F-60521A64A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10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A34079-42D0-F7D0-6CDF-4BA7F14B3925}"/>
              </a:ext>
            </a:extLst>
          </p:cNvPr>
          <p:cNvCxnSpPr>
            <a:cxnSpLocks/>
          </p:cNvCxnSpPr>
          <p:nvPr/>
        </p:nvCxnSpPr>
        <p:spPr>
          <a:xfrm flipH="1">
            <a:off x="323528" y="908720"/>
            <a:ext cx="856895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FA56D4B-7A0D-E8E8-EB77-75F4CD654031}"/>
              </a:ext>
            </a:extLst>
          </p:cNvPr>
          <p:cNvSpPr txBox="1"/>
          <p:nvPr/>
        </p:nvSpPr>
        <p:spPr>
          <a:xfrm>
            <a:off x="467544" y="260648"/>
            <a:ext cx="8371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v"/>
            </a:pP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الدراسات المرجعية ـــ </a:t>
            </a:r>
            <a:r>
              <a:rPr lang="en-US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Literature Review</a:t>
            </a: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E91A7-D65E-953F-0C00-4EABF426DCB2}"/>
              </a:ext>
            </a:extLst>
          </p:cNvPr>
          <p:cNvSpPr txBox="1"/>
          <p:nvPr/>
        </p:nvSpPr>
        <p:spPr>
          <a:xfrm>
            <a:off x="323528" y="1772816"/>
            <a:ext cx="856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GB" sz="1800" b="1" dirty="0"/>
              <a:t>Xue, et al. 2026. "Rtcfake: Speech deepfake detection in real-time communication." </a:t>
            </a:r>
            <a:r>
              <a:rPr lang="en-GB" sz="1800" b="1" i="1" dirty="0"/>
              <a:t>ACL</a:t>
            </a:r>
            <a:r>
              <a:rPr lang="en-GB" sz="1800" b="1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597A39-36F5-E18D-9F73-98B670BD1588}"/>
              </a:ext>
            </a:extLst>
          </p:cNvPr>
          <p:cNvSpPr txBox="1"/>
          <p:nvPr/>
        </p:nvSpPr>
        <p:spPr>
          <a:xfrm>
            <a:off x="4282774" y="980728"/>
            <a:ext cx="4609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sz="2400" b="1" u="sng" dirty="0">
                <a:cs typeface="Simplified Arabic" panose="02020603050405020304" pitchFamily="18" charset="-78"/>
              </a:rPr>
              <a:t>الدراسة الأولى (</a:t>
            </a:r>
            <a:r>
              <a:rPr lang="en-US" sz="2400" b="1" u="sng" dirty="0">
                <a:cs typeface="Simplified Arabic" panose="02020603050405020304" pitchFamily="18" charset="-78"/>
              </a:rPr>
              <a:t>2</a:t>
            </a:r>
            <a:r>
              <a:rPr lang="ar-SY" sz="2400" b="1" u="sng" dirty="0">
                <a:cs typeface="Simplified Arabic" panose="02020603050405020304" pitchFamily="18" charset="-78"/>
              </a:rPr>
              <a:t>/</a:t>
            </a:r>
            <a:r>
              <a:rPr lang="en-US" sz="2400" b="1" u="sng" dirty="0">
                <a:cs typeface="Simplified Arabic" panose="02020603050405020304" pitchFamily="18" charset="-78"/>
              </a:rPr>
              <a:t>1</a:t>
            </a:r>
            <a:r>
              <a:rPr lang="ar-SY" sz="2400" b="1" u="sng" dirty="0">
                <a:cs typeface="Simplified Arabic" panose="02020603050405020304" pitchFamily="18" charset="-78"/>
              </a:rPr>
              <a:t>)</a:t>
            </a:r>
            <a:endParaRPr lang="en-US" sz="2400" u="sng" dirty="0"/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18152D60-4990-3867-E412-0610FDD2DD4F}"/>
              </a:ext>
            </a:extLst>
          </p:cNvPr>
          <p:cNvSpPr txBox="1"/>
          <p:nvPr/>
        </p:nvSpPr>
        <p:spPr>
          <a:xfrm>
            <a:off x="235077" y="2636912"/>
            <a:ext cx="8369371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OM" b="1" dirty="0"/>
              <a:t>الخوارزميات المستخدمة:</a:t>
            </a:r>
            <a:r>
              <a:rPr lang="ar-OM" dirty="0"/>
              <a:t> دمج نموذج </a:t>
            </a:r>
            <a:r>
              <a:rPr lang="en-US" dirty="0"/>
              <a:t>XLSR </a:t>
            </a:r>
            <a:r>
              <a:rPr lang="ar-SY" dirty="0"/>
              <a:t> </a:t>
            </a:r>
            <a:r>
              <a:rPr lang="ar-OM" dirty="0"/>
              <a:t>لاستخراج الميزات مع مصنف </a:t>
            </a:r>
            <a:r>
              <a:rPr lang="en-US" dirty="0"/>
              <a:t>AASIST، </a:t>
            </a:r>
            <a:r>
              <a:rPr lang="ar-OM" dirty="0"/>
              <a:t>واستخدام </a:t>
            </a:r>
            <a:r>
              <a:rPr lang="en-US" dirty="0"/>
              <a:t> Wav2Vec2 </a:t>
            </a:r>
            <a:r>
              <a:rPr lang="ar-OM" dirty="0" err="1"/>
              <a:t>للفونيمات</a:t>
            </a:r>
            <a:r>
              <a:rPr lang="ar-OM" dirty="0"/>
              <a:t> لتنفيذ استراتيجية</a:t>
            </a:r>
            <a:r>
              <a:rPr lang="en-US" dirty="0"/>
              <a:t>PCL</a:t>
            </a:r>
            <a:r>
              <a:rPr lang="ar-SY" dirty="0"/>
              <a:t>.</a:t>
            </a:r>
            <a:endParaRPr lang="ar-OM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ADE719C9-FC5B-16E3-5B85-BE0F85F811BC}"/>
              </a:ext>
            </a:extLst>
          </p:cNvPr>
          <p:cNvSpPr txBox="1"/>
          <p:nvPr/>
        </p:nvSpPr>
        <p:spPr>
          <a:xfrm>
            <a:off x="1" y="3933056"/>
            <a:ext cx="860444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OM" b="1" dirty="0"/>
              <a:t>النتائج</a:t>
            </a:r>
            <a:r>
              <a:rPr lang="ar-SY" b="1" dirty="0"/>
              <a:t> </a:t>
            </a:r>
            <a:r>
              <a:rPr lang="ar-OM" b="1" dirty="0"/>
              <a:t>:</a:t>
            </a:r>
            <a:r>
              <a:rPr lang="ar-OM" dirty="0"/>
              <a:t> تفوق استراتيجية </a:t>
            </a:r>
            <a:r>
              <a:rPr lang="en-US" dirty="0"/>
              <a:t> PCL  </a:t>
            </a:r>
            <a:r>
              <a:rPr lang="ar-OM" dirty="0"/>
              <a:t>في خفض نسبة الخطأ إلى 5.81% وتحسين المتانة ضد الضوضاء والتعميم عبر منصات الاتصال الجديدة</a:t>
            </a: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6B0EBF47-7F06-3B56-B15A-A54232360165}"/>
              </a:ext>
            </a:extLst>
          </p:cNvPr>
          <p:cNvSpPr txBox="1"/>
          <p:nvPr/>
        </p:nvSpPr>
        <p:spPr>
          <a:xfrm>
            <a:off x="1475656" y="5805264"/>
            <a:ext cx="662473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PCL: Phoneme-guided Consistency Learning</a:t>
            </a:r>
            <a:endParaRPr lang="ar-OM" dirty="0"/>
          </a:p>
        </p:txBody>
      </p:sp>
    </p:spTree>
    <p:extLst>
      <p:ext uri="{BB962C8B-B14F-4D97-AF65-F5344CB8AC3E}">
        <p14:creationId xmlns:p14="http://schemas.microsoft.com/office/powerpoint/2010/main" val="2068507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BD5AA-605A-B751-EC1A-2C58BBAD0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C529A-4CC6-46B8-A2E9-89186D6FB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4E4F9F-26BE-B500-4161-DA1F37779C81}"/>
              </a:ext>
            </a:extLst>
          </p:cNvPr>
          <p:cNvCxnSpPr>
            <a:cxnSpLocks/>
          </p:cNvCxnSpPr>
          <p:nvPr/>
        </p:nvCxnSpPr>
        <p:spPr>
          <a:xfrm flipH="1">
            <a:off x="323528" y="908720"/>
            <a:ext cx="856895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D9F6F90-1D55-C36F-CE4C-A0AF653BE967}"/>
              </a:ext>
            </a:extLst>
          </p:cNvPr>
          <p:cNvSpPr txBox="1"/>
          <p:nvPr/>
        </p:nvSpPr>
        <p:spPr>
          <a:xfrm>
            <a:off x="467544" y="260648"/>
            <a:ext cx="8371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v"/>
            </a:pPr>
            <a:r>
              <a:rPr lang="ar-SY" sz="2400" b="1" dirty="0">
                <a:latin typeface="Simplified Arabic" pitchFamily="18" charset="-78"/>
                <a:cs typeface="Simplified Arabic" pitchFamily="18" charset="-78"/>
              </a:rPr>
              <a:t>الدراسات المرجعية ـــ </a:t>
            </a:r>
            <a:r>
              <a:rPr lang="en-US" sz="2400" b="1" dirty="0">
                <a:latin typeface="Simplified Arabic" pitchFamily="18" charset="-78"/>
                <a:cs typeface="Simplified Arabic" pitchFamily="18" charset="-78"/>
              </a:rPr>
              <a:t>Literature Review</a:t>
            </a:r>
            <a:r>
              <a:rPr lang="ar-SY" sz="2400" b="1" dirty="0">
                <a:latin typeface="Simplified Arabic" pitchFamily="18" charset="-78"/>
                <a:cs typeface="Simplified Arabic" pitchFamily="18" charset="-78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ABA81-99F5-78C6-3852-0A6BD41C4022}"/>
              </a:ext>
            </a:extLst>
          </p:cNvPr>
          <p:cNvSpPr txBox="1"/>
          <p:nvPr/>
        </p:nvSpPr>
        <p:spPr>
          <a:xfrm>
            <a:off x="249572" y="1354098"/>
            <a:ext cx="84040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Murty, et al.2026.  "A hybrid deep learning framework for real and deepfake voice detection." </a:t>
            </a:r>
            <a:r>
              <a:rPr lang="en-GB" b="1" i="1" dirty="0"/>
              <a:t>Circuits, Systems, and Signal Processing.</a:t>
            </a:r>
          </a:p>
        </p:txBody>
      </p:sp>
      <p:sp>
        <p:nvSpPr>
          <p:cNvPr id="9" name="مربع نص 12">
            <a:extLst>
              <a:ext uri="{FF2B5EF4-FFF2-40B4-BE49-F238E27FC236}">
                <a16:creationId xmlns:a16="http://schemas.microsoft.com/office/drawing/2014/main" id="{7F5B0815-A2FF-B242-CB4A-D422033DAA8E}"/>
              </a:ext>
            </a:extLst>
          </p:cNvPr>
          <p:cNvSpPr txBox="1"/>
          <p:nvPr/>
        </p:nvSpPr>
        <p:spPr>
          <a:xfrm>
            <a:off x="1835696" y="6233422"/>
            <a:ext cx="51352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ASV spoof: Automatic Speaker Verification Spoofing.</a:t>
            </a:r>
            <a:endParaRPr lang="ar-OM" dirty="0"/>
          </a:p>
        </p:txBody>
      </p:sp>
      <p:sp>
        <p:nvSpPr>
          <p:cNvPr id="12" name="مربع نص 2">
            <a:extLst>
              <a:ext uri="{FF2B5EF4-FFF2-40B4-BE49-F238E27FC236}">
                <a16:creationId xmlns:a16="http://schemas.microsoft.com/office/drawing/2014/main" id="{1DD870A6-EA25-21DE-2C52-E1624048FCD3}"/>
              </a:ext>
            </a:extLst>
          </p:cNvPr>
          <p:cNvSpPr txBox="1"/>
          <p:nvPr/>
        </p:nvSpPr>
        <p:spPr>
          <a:xfrm>
            <a:off x="467544" y="2000429"/>
            <a:ext cx="8219256" cy="10931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1</a:t>
            </a:r>
            <a:r>
              <a:rPr lang="ar-SY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- </a:t>
            </a:r>
            <a:r>
              <a:rPr lang="ar-DZ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هدف الدراسة</a:t>
            </a:r>
            <a:r>
              <a:rPr lang="ar-SY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:</a:t>
            </a:r>
            <a:endParaRPr lang="en-US" sz="1800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lvl="1" algn="r" rtl="1"/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تطوير نموذج تعلم عميق هجين للتمييز بين الأصوات البشرية الحقيقية والأصوات المزيفة الناتجة عن تقنيات توليد الكلام وتحويل الصوت</a:t>
            </a:r>
            <a:r>
              <a:rPr lang="ar-SY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.</a:t>
            </a:r>
            <a:endParaRPr lang="ar-OM" dirty="0"/>
          </a:p>
        </p:txBody>
      </p:sp>
      <p:sp>
        <p:nvSpPr>
          <p:cNvPr id="14" name="مربع نص 10">
            <a:extLst>
              <a:ext uri="{FF2B5EF4-FFF2-40B4-BE49-F238E27FC236}">
                <a16:creationId xmlns:a16="http://schemas.microsoft.com/office/drawing/2014/main" id="{CC2ABA11-5809-93C1-F2F5-8D2D7711FD14}"/>
              </a:ext>
            </a:extLst>
          </p:cNvPr>
          <p:cNvSpPr txBox="1"/>
          <p:nvPr/>
        </p:nvSpPr>
        <p:spPr>
          <a:xfrm>
            <a:off x="899591" y="3334645"/>
            <a:ext cx="7784287" cy="26243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2</a:t>
            </a:r>
            <a:r>
              <a:rPr lang="ar-SY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- </a:t>
            </a:r>
            <a:r>
              <a:rPr lang="ar-DZ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الخطوات الأساسية</a:t>
            </a:r>
            <a:r>
              <a:rPr lang="ar-SY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:</a:t>
            </a:r>
            <a:endParaRPr lang="en-US" sz="1800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 algn="r" rtl="1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استخدام مجموعات بيانات </a:t>
            </a:r>
            <a:r>
              <a:rPr lang="ar-DZ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In-the-Wild</a:t>
            </a:r>
            <a:r>
              <a:rPr lang="ar-SY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SY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و</a:t>
            </a:r>
            <a:r>
              <a:rPr lang="ar-SY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ASVspoof</a:t>
            </a: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SY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و</a:t>
            </a:r>
            <a:r>
              <a:rPr lang="ar-SY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WaveFake</a:t>
            </a: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 algn="r" rtl="1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معالجة التسجيلات واستخراج الخصائص الصوتية.</a:t>
            </a: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 algn="r" rtl="1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استخدام الخصائص المستخرجة لتدريب نموذج هجين.</a:t>
            </a: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 algn="r" rtl="1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دمج عدة شبكات عصبية في النموذج.</a:t>
            </a: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 algn="r" rtl="1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اختبار النموذج وتقييم أدائه على مجموعات البيانات المختلفة.</a:t>
            </a: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62BED0-5082-6151-4921-EEDF169EEA3C}"/>
              </a:ext>
            </a:extLst>
          </p:cNvPr>
          <p:cNvSpPr txBox="1"/>
          <p:nvPr/>
        </p:nvSpPr>
        <p:spPr>
          <a:xfrm>
            <a:off x="4451598" y="991206"/>
            <a:ext cx="4609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sz="2400" b="1" u="sng" dirty="0">
                <a:cs typeface="Simplified Arabic" panose="02020603050405020304" pitchFamily="18" charset="-78"/>
              </a:rPr>
              <a:t>الدراسة الثانية (</a:t>
            </a:r>
            <a:r>
              <a:rPr lang="en-US" sz="2400" b="1" u="sng" dirty="0">
                <a:cs typeface="Simplified Arabic" panose="02020603050405020304" pitchFamily="18" charset="-78"/>
              </a:rPr>
              <a:t>1</a:t>
            </a:r>
            <a:r>
              <a:rPr lang="ar-SY" sz="2400" b="1" u="sng" dirty="0">
                <a:cs typeface="Simplified Arabic" panose="02020603050405020304" pitchFamily="18" charset="-78"/>
              </a:rPr>
              <a:t>/</a:t>
            </a:r>
            <a:r>
              <a:rPr lang="en-US" sz="2400" b="1" u="sng" dirty="0">
                <a:cs typeface="Simplified Arabic" panose="02020603050405020304" pitchFamily="18" charset="-78"/>
              </a:rPr>
              <a:t>2</a:t>
            </a:r>
            <a:r>
              <a:rPr lang="ar-SY" sz="2400" b="1" u="sng" dirty="0">
                <a:cs typeface="Simplified Arabic" panose="02020603050405020304" pitchFamily="18" charset="-78"/>
              </a:rPr>
              <a:t>)</a:t>
            </a:r>
            <a:endParaRPr lang="en-US" sz="2400" u="sng" dirty="0"/>
          </a:p>
        </p:txBody>
      </p:sp>
    </p:spTree>
    <p:extLst>
      <p:ext uri="{BB962C8B-B14F-4D97-AF65-F5344CB8AC3E}">
        <p14:creationId xmlns:p14="http://schemas.microsoft.com/office/powerpoint/2010/main" val="4150217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B2350-0BB5-A537-1D05-65CE60861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E83D5-E6E9-A372-1EA0-2CFC50614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12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D5A78FD-66F1-E390-E7DA-09D277782FA4}"/>
              </a:ext>
            </a:extLst>
          </p:cNvPr>
          <p:cNvCxnSpPr>
            <a:cxnSpLocks/>
          </p:cNvCxnSpPr>
          <p:nvPr/>
        </p:nvCxnSpPr>
        <p:spPr>
          <a:xfrm flipH="1">
            <a:off x="323528" y="908720"/>
            <a:ext cx="856895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F530690-CFFE-E120-3EDA-208586B6C559}"/>
              </a:ext>
            </a:extLst>
          </p:cNvPr>
          <p:cNvSpPr txBox="1"/>
          <p:nvPr/>
        </p:nvSpPr>
        <p:spPr>
          <a:xfrm>
            <a:off x="467544" y="260648"/>
            <a:ext cx="8371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v"/>
            </a:pP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الدراسات المرجعية ـــ </a:t>
            </a:r>
            <a:r>
              <a:rPr lang="en-US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Literature Review</a:t>
            </a: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5A9239-FCE1-8D23-7B03-2D57F82F680A}"/>
              </a:ext>
            </a:extLst>
          </p:cNvPr>
          <p:cNvSpPr txBox="1"/>
          <p:nvPr/>
        </p:nvSpPr>
        <p:spPr>
          <a:xfrm>
            <a:off x="256845" y="1473395"/>
            <a:ext cx="84040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GB" sz="1800" b="1" dirty="0"/>
              <a:t>Murty, et al.2026.  "A hybrid deep learning framework for real and deepfake voice detection." </a:t>
            </a:r>
            <a:r>
              <a:rPr lang="en-GB" sz="1800" b="1" i="1" dirty="0"/>
              <a:t>Circuits, Systems, and Signal Processing.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8654D9-ABED-C885-52A4-A943C42BC0FE}"/>
              </a:ext>
            </a:extLst>
          </p:cNvPr>
          <p:cNvSpPr txBox="1"/>
          <p:nvPr/>
        </p:nvSpPr>
        <p:spPr>
          <a:xfrm>
            <a:off x="4451598" y="991206"/>
            <a:ext cx="4609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sz="2400" b="1" u="sng" dirty="0">
                <a:cs typeface="Simplified Arabic" panose="02020603050405020304" pitchFamily="18" charset="-78"/>
              </a:rPr>
              <a:t>الدراسة الثانية (</a:t>
            </a:r>
            <a:r>
              <a:rPr lang="en-US" sz="2400" b="1" u="sng" dirty="0">
                <a:cs typeface="Simplified Arabic" panose="02020603050405020304" pitchFamily="18" charset="-78"/>
              </a:rPr>
              <a:t>2</a:t>
            </a:r>
            <a:r>
              <a:rPr lang="ar-SY" sz="2400" b="1" u="sng" dirty="0">
                <a:cs typeface="Simplified Arabic" panose="02020603050405020304" pitchFamily="18" charset="-78"/>
              </a:rPr>
              <a:t>/</a:t>
            </a:r>
            <a:r>
              <a:rPr lang="en-US" sz="2400" b="1" u="sng" dirty="0">
                <a:cs typeface="Simplified Arabic" panose="02020603050405020304" pitchFamily="18" charset="-78"/>
              </a:rPr>
              <a:t>2</a:t>
            </a:r>
            <a:r>
              <a:rPr lang="ar-SY" sz="2400" b="1" u="sng" dirty="0">
                <a:cs typeface="Simplified Arabic" panose="02020603050405020304" pitchFamily="18" charset="-78"/>
              </a:rPr>
              <a:t>)</a:t>
            </a:r>
            <a:endParaRPr lang="en-US" sz="2400" u="sng" dirty="0"/>
          </a:p>
        </p:txBody>
      </p:sp>
      <p:sp>
        <p:nvSpPr>
          <p:cNvPr id="3" name="مربع نص 3">
            <a:extLst>
              <a:ext uri="{FF2B5EF4-FFF2-40B4-BE49-F238E27FC236}">
                <a16:creationId xmlns:a16="http://schemas.microsoft.com/office/drawing/2014/main" id="{5F3153EB-DE43-0530-93E5-E429DC776A04}"/>
              </a:ext>
            </a:extLst>
          </p:cNvPr>
          <p:cNvSpPr txBox="1"/>
          <p:nvPr/>
        </p:nvSpPr>
        <p:spPr>
          <a:xfrm>
            <a:off x="165100" y="2129174"/>
            <a:ext cx="8813800" cy="338964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3</a:t>
            </a:r>
            <a:r>
              <a:rPr lang="ar-SY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- </a:t>
            </a:r>
            <a:r>
              <a:rPr lang="ar-DZ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الخوارزميات المستخدمة</a:t>
            </a: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ar-DZ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:</a:t>
            </a:r>
            <a:endParaRPr lang="en-US" sz="1800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CNN: </a:t>
            </a: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استخراج الأنماط الصوتية.</a:t>
            </a: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LSTM: </a:t>
            </a: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تعلم العلاقات الزمنية طويلة المدى.</a:t>
            </a: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GRU: </a:t>
            </a: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معالجة التسلسلات الصوتية بكفاءة.</a:t>
            </a: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lvl="1" algn="r" rtl="1">
              <a:lnSpc>
                <a:spcPct val="115000"/>
              </a:lnSpc>
              <a:spcAft>
                <a:spcPts val="1000"/>
              </a:spcAft>
            </a:pP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4</a:t>
            </a:r>
            <a:r>
              <a:rPr lang="ar-SY" b="1" dirty="0"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- </a:t>
            </a:r>
            <a:r>
              <a:rPr lang="ar-DZ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الخصائص الصوتية</a:t>
            </a:r>
            <a:r>
              <a:rPr lang="ar-SY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:</a:t>
            </a:r>
            <a:endParaRPr lang="en-US" sz="1800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lvl="1" algn="r" rtl="1">
              <a:lnSpc>
                <a:spcPct val="115000"/>
              </a:lnSpc>
              <a:spcAft>
                <a:spcPts val="1000"/>
              </a:spcAft>
            </a:pP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MFCC، </a:t>
            </a: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وChroma</a:t>
            </a: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STFT، </a:t>
            </a: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وRMS</a:t>
            </a: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Energy</a:t>
            </a: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، </a:t>
            </a: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وSpectral</a:t>
            </a: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Centroid</a:t>
            </a: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، </a:t>
            </a: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وSpectral</a:t>
            </a: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Bandwidth</a:t>
            </a: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، </a:t>
            </a: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وSpectral</a:t>
            </a: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Rolloff</a:t>
            </a: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، </a:t>
            </a: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وZero-Crossing</a:t>
            </a: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Rate</a:t>
            </a: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.</a:t>
            </a:r>
            <a:endParaRPr lang="en-US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074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DE1DD-63AB-6C65-68D1-1CF07B41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51FCD-3200-D2FE-1971-2E35FB073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13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166A8E-9C01-3383-CC56-EFD9CDB93820}"/>
              </a:ext>
            </a:extLst>
          </p:cNvPr>
          <p:cNvCxnSpPr>
            <a:cxnSpLocks/>
          </p:cNvCxnSpPr>
          <p:nvPr/>
        </p:nvCxnSpPr>
        <p:spPr>
          <a:xfrm flipH="1">
            <a:off x="323528" y="908720"/>
            <a:ext cx="856895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DC4F9DE-D6A4-20E2-42DC-970A945B367C}"/>
              </a:ext>
            </a:extLst>
          </p:cNvPr>
          <p:cNvSpPr txBox="1"/>
          <p:nvPr/>
        </p:nvSpPr>
        <p:spPr>
          <a:xfrm>
            <a:off x="467544" y="260648"/>
            <a:ext cx="8371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v"/>
            </a:pP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الدراسات المرجعية ـــ </a:t>
            </a:r>
            <a:r>
              <a:rPr lang="en-US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Literature Review</a:t>
            </a: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B609E-0BEE-1F33-54AA-C864E7EFF6E3}"/>
              </a:ext>
            </a:extLst>
          </p:cNvPr>
          <p:cNvSpPr txBox="1"/>
          <p:nvPr/>
        </p:nvSpPr>
        <p:spPr>
          <a:xfrm>
            <a:off x="308651" y="1675717"/>
            <a:ext cx="84040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GB" sz="1800" b="1" dirty="0"/>
              <a:t>Murty, et al.2026.  "A hybrid deep learning framework for real and deepfake voice detection." </a:t>
            </a:r>
            <a:r>
              <a:rPr lang="en-GB" sz="1800" b="1" i="1" dirty="0"/>
              <a:t>Circuits, Systems, and Signal Processing.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B1CF6E-0DA1-C3FD-316B-38B977FD873B}"/>
              </a:ext>
            </a:extLst>
          </p:cNvPr>
          <p:cNvSpPr txBox="1"/>
          <p:nvPr/>
        </p:nvSpPr>
        <p:spPr>
          <a:xfrm>
            <a:off x="4282774" y="992314"/>
            <a:ext cx="4609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sz="2400" b="1" u="sng" dirty="0">
                <a:cs typeface="Simplified Arabic" panose="02020603050405020304" pitchFamily="18" charset="-78"/>
              </a:rPr>
              <a:t>الدراسة الثانية (</a:t>
            </a:r>
            <a:r>
              <a:rPr lang="en-US" sz="2400" b="1" u="sng" dirty="0">
                <a:cs typeface="Simplified Arabic" panose="02020603050405020304" pitchFamily="18" charset="-78"/>
              </a:rPr>
              <a:t>3</a:t>
            </a:r>
            <a:r>
              <a:rPr lang="ar-SY" sz="2400" b="1" u="sng" dirty="0">
                <a:cs typeface="Simplified Arabic" panose="02020603050405020304" pitchFamily="18" charset="-78"/>
              </a:rPr>
              <a:t>/</a:t>
            </a:r>
            <a:r>
              <a:rPr lang="en-US" sz="2400" b="1" u="sng" dirty="0">
                <a:cs typeface="Simplified Arabic" panose="02020603050405020304" pitchFamily="18" charset="-78"/>
              </a:rPr>
              <a:t>2</a:t>
            </a:r>
            <a:r>
              <a:rPr lang="ar-SY" sz="2400" b="1" u="sng" dirty="0">
                <a:cs typeface="Simplified Arabic" panose="02020603050405020304" pitchFamily="18" charset="-78"/>
              </a:rPr>
              <a:t>)</a:t>
            </a:r>
            <a:endParaRPr lang="en-US" sz="2400" u="sng" dirty="0"/>
          </a:p>
        </p:txBody>
      </p:sp>
      <p:sp>
        <p:nvSpPr>
          <p:cNvPr id="8" name="مربع نص 4">
            <a:extLst>
              <a:ext uri="{FF2B5EF4-FFF2-40B4-BE49-F238E27FC236}">
                <a16:creationId xmlns:a16="http://schemas.microsoft.com/office/drawing/2014/main" id="{CE49BDB5-15AA-D397-7C8A-A8196A6BC78E}"/>
              </a:ext>
            </a:extLst>
          </p:cNvPr>
          <p:cNvSpPr txBox="1"/>
          <p:nvPr/>
        </p:nvSpPr>
        <p:spPr>
          <a:xfrm>
            <a:off x="300629" y="2780928"/>
            <a:ext cx="8470900" cy="338964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5</a:t>
            </a:r>
            <a:r>
              <a:rPr lang="ar-SY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- </a:t>
            </a:r>
            <a:r>
              <a:rPr lang="ar-DZ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النتائج</a:t>
            </a:r>
            <a:r>
              <a:rPr lang="ar-SY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:</a:t>
            </a:r>
            <a:endParaRPr lang="en-US" sz="1800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دقة الاختبار على In-the-Wild:99.84%</a:t>
            </a:r>
            <a:r>
              <a:rPr lang="ar-SY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الدقة على </a:t>
            </a:r>
            <a:r>
              <a:rPr lang="ar-DZ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ASVspoof</a:t>
            </a: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5: 99%.</a:t>
            </a: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742950" lvl="1" indent="-285750" algn="r" rtl="1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الدقة على </a:t>
            </a:r>
            <a:r>
              <a:rPr lang="ar-DZ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WaveFake</a:t>
            </a: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: 98.5%.</a:t>
            </a: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endParaRPr lang="en-US" sz="1800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6</a:t>
            </a:r>
            <a:r>
              <a:rPr lang="ar-SY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- </a:t>
            </a:r>
            <a:r>
              <a:rPr lang="ar-DZ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الاستفادة من الدراسة:</a:t>
            </a:r>
            <a:endParaRPr lang="en-US" sz="1800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lvl="1" algn="r" rtl="1">
              <a:lnSpc>
                <a:spcPct val="115000"/>
              </a:lnSpc>
              <a:spcAft>
                <a:spcPts val="1000"/>
              </a:spcAft>
            </a:pP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توضح إمكانية دمج عدة شبكات عصبية لتحسين كشف الصوت المزيف، واختبار قدرة النموذج على التعامل مع مجموعات بيانات مختلفة.</a:t>
            </a: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353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C6152-C3A5-8E29-127A-61C237A2A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09F34-FF67-B564-2DA7-C57CDF99B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14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925DAA9-41D5-DAB7-8745-65695C4519D6}"/>
              </a:ext>
            </a:extLst>
          </p:cNvPr>
          <p:cNvCxnSpPr>
            <a:cxnSpLocks/>
          </p:cNvCxnSpPr>
          <p:nvPr/>
        </p:nvCxnSpPr>
        <p:spPr>
          <a:xfrm flipH="1">
            <a:off x="323528" y="908720"/>
            <a:ext cx="856895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A5C8D0A-58D1-5E25-E595-2666AF4F85E3}"/>
              </a:ext>
            </a:extLst>
          </p:cNvPr>
          <p:cNvSpPr txBox="1"/>
          <p:nvPr/>
        </p:nvSpPr>
        <p:spPr>
          <a:xfrm>
            <a:off x="467544" y="260648"/>
            <a:ext cx="8371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v"/>
            </a:pP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الدراسات المرجعية ـــ </a:t>
            </a:r>
            <a:r>
              <a:rPr lang="en-US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Literature Review</a:t>
            </a: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BE7676-1236-5A6D-577C-61301E31B914}"/>
              </a:ext>
            </a:extLst>
          </p:cNvPr>
          <p:cNvSpPr txBox="1"/>
          <p:nvPr/>
        </p:nvSpPr>
        <p:spPr>
          <a:xfrm>
            <a:off x="288352" y="1797618"/>
            <a:ext cx="8663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GB" sz="1800" b="1" dirty="0" err="1"/>
              <a:t>waad</a:t>
            </a:r>
            <a:r>
              <a:rPr lang="en-GB" sz="1800" b="1" dirty="0"/>
              <a:t>, et al.</a:t>
            </a:r>
            <a:r>
              <a:rPr lang="en-US" sz="1800" b="1" dirty="0"/>
              <a:t>2024. </a:t>
            </a:r>
            <a:r>
              <a:rPr lang="en-GB" sz="1800" b="1" dirty="0"/>
              <a:t>"Real-Time Deepfake Detection for AI-Generated Arabic Speech." </a:t>
            </a:r>
            <a:r>
              <a:rPr lang="en-GB" sz="1800" b="1" i="1" dirty="0"/>
              <a:t>IEEE</a:t>
            </a:r>
            <a:r>
              <a:rPr lang="en-GB" sz="1800" b="1" dirty="0"/>
              <a:t>.</a:t>
            </a:r>
          </a:p>
        </p:txBody>
      </p:sp>
      <p:sp>
        <p:nvSpPr>
          <p:cNvPr id="3" name="مربع نص 6">
            <a:extLst>
              <a:ext uri="{FF2B5EF4-FFF2-40B4-BE49-F238E27FC236}">
                <a16:creationId xmlns:a16="http://schemas.microsoft.com/office/drawing/2014/main" id="{130DEF91-2551-F84B-B524-3A7E77DB7E7A}"/>
              </a:ext>
            </a:extLst>
          </p:cNvPr>
          <p:cNvSpPr txBox="1"/>
          <p:nvPr/>
        </p:nvSpPr>
        <p:spPr>
          <a:xfrm>
            <a:off x="467544" y="2459054"/>
            <a:ext cx="8429844" cy="351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1</a:t>
            </a:r>
            <a:r>
              <a:rPr lang="ar-SY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- </a:t>
            </a:r>
            <a:r>
              <a:rPr lang="ar-DZ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هدف الدراسة:</a:t>
            </a:r>
            <a:endParaRPr lang="en-US" sz="1800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lvl="1" algn="r" rtl="1">
              <a:lnSpc>
                <a:spcPct val="115000"/>
              </a:lnSpc>
              <a:spcAft>
                <a:spcPts val="1000"/>
              </a:spcAft>
            </a:pP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الكشف عن الكلام العربي الحقيقي وتمييزه عن الكلام المزيف الناتج عن تقنيات الذكاء الاصطناعي</a:t>
            </a:r>
            <a:r>
              <a:rPr lang="en-US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……[3]</a:t>
            </a: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2</a:t>
            </a:r>
            <a:r>
              <a:rPr lang="ar-SY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- </a:t>
            </a:r>
            <a:r>
              <a:rPr lang="ar-DZ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الخطوات الأساسية:</a:t>
            </a:r>
            <a:endParaRPr lang="en-US" sz="1800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arenR"/>
            </a:pP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جمع تسجيلات صوتية حقيقية ومزيفة باستخدام تقنية تحويل الصوت RVC </a:t>
            </a: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arenR"/>
            </a:pP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تقسيم التسجيلات إلى مقاطع مدتها ثانية واحدة</a:t>
            </a: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arenR"/>
            </a:pP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استخراج 26 خاصية صوتية، منها MFCC والطاقة الصوتية والخصائص الطيفية</a:t>
            </a: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arenR"/>
            </a:pP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تدريب عدة خوارزميات تصنيف ومقارنة أدائها</a:t>
            </a: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800100" lvl="1" indent="-34290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arenR"/>
            </a:pP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تقييم النماذج باستخدام مقاييس الأداء</a:t>
            </a: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مربع نص 12">
            <a:extLst>
              <a:ext uri="{FF2B5EF4-FFF2-40B4-BE49-F238E27FC236}">
                <a16:creationId xmlns:a16="http://schemas.microsoft.com/office/drawing/2014/main" id="{93A8D538-CC4E-7F67-0C15-204950ABE462}"/>
              </a:ext>
            </a:extLst>
          </p:cNvPr>
          <p:cNvSpPr txBox="1"/>
          <p:nvPr/>
        </p:nvSpPr>
        <p:spPr>
          <a:xfrm>
            <a:off x="1475656" y="6228020"/>
            <a:ext cx="606742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MFCC: Mel-Frequency Cepstral Coefficients</a:t>
            </a:r>
            <a:endParaRPr lang="ar-OM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743FEB-5229-EE7C-DD49-0A832DCC1A44}"/>
              </a:ext>
            </a:extLst>
          </p:cNvPr>
          <p:cNvSpPr txBox="1"/>
          <p:nvPr/>
        </p:nvSpPr>
        <p:spPr>
          <a:xfrm>
            <a:off x="4248347" y="1146248"/>
            <a:ext cx="4609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sz="2400" b="1" u="sng" dirty="0">
                <a:cs typeface="Simplified Arabic" panose="02020603050405020304" pitchFamily="18" charset="-78"/>
              </a:rPr>
              <a:t>الدراسة الثالثة (</a:t>
            </a:r>
            <a:r>
              <a:rPr lang="en-US" sz="2400" b="1" u="sng" dirty="0">
                <a:cs typeface="Simplified Arabic" panose="02020603050405020304" pitchFamily="18" charset="-78"/>
              </a:rPr>
              <a:t>1</a:t>
            </a:r>
            <a:r>
              <a:rPr lang="ar-SY" sz="2400" b="1" u="sng" dirty="0">
                <a:cs typeface="Simplified Arabic" panose="02020603050405020304" pitchFamily="18" charset="-78"/>
              </a:rPr>
              <a:t>/</a:t>
            </a:r>
            <a:r>
              <a:rPr lang="en-US" sz="2400" b="1" u="sng" dirty="0">
                <a:cs typeface="Simplified Arabic" panose="02020603050405020304" pitchFamily="18" charset="-78"/>
              </a:rPr>
              <a:t>3</a:t>
            </a:r>
            <a:r>
              <a:rPr lang="ar-SY" sz="2400" b="1" u="sng" dirty="0">
                <a:cs typeface="Simplified Arabic" panose="02020603050405020304" pitchFamily="18" charset="-78"/>
              </a:rPr>
              <a:t>)</a:t>
            </a:r>
            <a:endParaRPr lang="en-US" sz="2400" u="sng" dirty="0"/>
          </a:p>
        </p:txBody>
      </p:sp>
    </p:spTree>
    <p:extLst>
      <p:ext uri="{BB962C8B-B14F-4D97-AF65-F5344CB8AC3E}">
        <p14:creationId xmlns:p14="http://schemas.microsoft.com/office/powerpoint/2010/main" val="2483104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70333-BA35-E46B-47F3-38D2E99D8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ED412-96AE-9158-BC23-8B96F287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15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F56A2A-8EEB-BC44-45B5-41F87F3352E3}"/>
              </a:ext>
            </a:extLst>
          </p:cNvPr>
          <p:cNvCxnSpPr>
            <a:cxnSpLocks/>
          </p:cNvCxnSpPr>
          <p:nvPr/>
        </p:nvCxnSpPr>
        <p:spPr>
          <a:xfrm flipH="1">
            <a:off x="323528" y="908720"/>
            <a:ext cx="856895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351330A-B745-B0FB-B9B5-50B00885B7C0}"/>
              </a:ext>
            </a:extLst>
          </p:cNvPr>
          <p:cNvSpPr txBox="1"/>
          <p:nvPr/>
        </p:nvSpPr>
        <p:spPr>
          <a:xfrm>
            <a:off x="467544" y="260648"/>
            <a:ext cx="8371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v"/>
            </a:pP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الدراسات المرجعية ـــ </a:t>
            </a:r>
            <a:r>
              <a:rPr lang="en-US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Literature Review</a:t>
            </a: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E3B21-8469-C1AE-8B01-90687EAF350B}"/>
              </a:ext>
            </a:extLst>
          </p:cNvPr>
          <p:cNvSpPr txBox="1"/>
          <p:nvPr/>
        </p:nvSpPr>
        <p:spPr>
          <a:xfrm>
            <a:off x="288352" y="1797618"/>
            <a:ext cx="8663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GB" sz="1800" b="1" dirty="0" err="1"/>
              <a:t>waad</a:t>
            </a:r>
            <a:r>
              <a:rPr lang="en-GB" sz="1800" b="1" dirty="0"/>
              <a:t>, et al.</a:t>
            </a:r>
            <a:r>
              <a:rPr lang="en-US" sz="1800" b="1" dirty="0"/>
              <a:t>2024. </a:t>
            </a:r>
            <a:r>
              <a:rPr lang="en-GB" sz="1800" b="1" dirty="0"/>
              <a:t>"Real-Time Deepfake Detection for AI-Generated Arabic Speech." </a:t>
            </a:r>
            <a:r>
              <a:rPr lang="en-GB" sz="1800" b="1" i="1" dirty="0"/>
              <a:t>IEEE</a:t>
            </a:r>
            <a:r>
              <a:rPr lang="en-GB" sz="1800" b="1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50FB26-3ED5-A0E8-D9D3-7204E8F1836D}"/>
              </a:ext>
            </a:extLst>
          </p:cNvPr>
          <p:cNvSpPr txBox="1"/>
          <p:nvPr/>
        </p:nvSpPr>
        <p:spPr>
          <a:xfrm>
            <a:off x="4248347" y="1146248"/>
            <a:ext cx="4609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Y" sz="2400" b="1" u="sng" dirty="0">
                <a:cs typeface="Simplified Arabic" panose="02020603050405020304" pitchFamily="18" charset="-78"/>
              </a:rPr>
              <a:t>الدراسة الثالثة (</a:t>
            </a:r>
            <a:r>
              <a:rPr lang="en-US" sz="2400" b="1" u="sng" dirty="0">
                <a:cs typeface="Simplified Arabic" panose="02020603050405020304" pitchFamily="18" charset="-78"/>
              </a:rPr>
              <a:t>2</a:t>
            </a:r>
            <a:r>
              <a:rPr lang="ar-SY" sz="2400" b="1" u="sng" dirty="0">
                <a:cs typeface="Simplified Arabic" panose="02020603050405020304" pitchFamily="18" charset="-78"/>
              </a:rPr>
              <a:t>/</a:t>
            </a:r>
            <a:r>
              <a:rPr lang="en-US" sz="2400" b="1" u="sng" dirty="0">
                <a:cs typeface="Simplified Arabic" panose="02020603050405020304" pitchFamily="18" charset="-78"/>
              </a:rPr>
              <a:t>3</a:t>
            </a:r>
            <a:r>
              <a:rPr lang="ar-SY" sz="2400" b="1" u="sng" dirty="0">
                <a:cs typeface="Simplified Arabic" panose="02020603050405020304" pitchFamily="18" charset="-78"/>
              </a:rPr>
              <a:t>)</a:t>
            </a:r>
            <a:endParaRPr lang="en-US" sz="2400" u="sn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729F7A-1730-DAD2-CA23-D37D7E10BECE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489637A-11D4-42A0-937C-45FCD8DF8B4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مربع نص 3">
            <a:extLst>
              <a:ext uri="{FF2B5EF4-FFF2-40B4-BE49-F238E27FC236}">
                <a16:creationId xmlns:a16="http://schemas.microsoft.com/office/drawing/2014/main" id="{DD528B06-E87E-9005-F1A8-AFA75F139B5F}"/>
              </a:ext>
            </a:extLst>
          </p:cNvPr>
          <p:cNvSpPr txBox="1"/>
          <p:nvPr/>
        </p:nvSpPr>
        <p:spPr>
          <a:xfrm>
            <a:off x="1115616" y="2496810"/>
            <a:ext cx="7723584" cy="26243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3</a:t>
            </a:r>
            <a:r>
              <a:rPr lang="ar-SY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- </a:t>
            </a:r>
            <a:r>
              <a:rPr lang="ar-DZ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الخوارزميات المستخدمة:</a:t>
            </a:r>
            <a:endParaRPr lang="ar-SY" sz="1800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857250" lvl="1" indent="-400050" algn="r" rtl="1">
              <a:lnSpc>
                <a:spcPct val="115000"/>
              </a:lnSpc>
              <a:spcAft>
                <a:spcPts val="1000"/>
              </a:spcAft>
              <a:buFont typeface="+mj-lt"/>
              <a:buAutoNum type="romanLcPeriod"/>
            </a:pP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Logistic</a:t>
            </a: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Regression</a:t>
            </a:r>
            <a:endParaRPr lang="ar-SY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857250" lvl="1" indent="-400050" algn="r" rtl="1">
              <a:lnSpc>
                <a:spcPct val="115000"/>
              </a:lnSpc>
              <a:spcAft>
                <a:spcPts val="1000"/>
              </a:spcAft>
              <a:buFont typeface="+mj-lt"/>
              <a:buAutoNum type="romanLcPeriod"/>
            </a:pP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Decision</a:t>
            </a: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Tree</a:t>
            </a:r>
            <a:endParaRPr lang="ar-SY" b="1" dirty="0"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857250" lvl="1" indent="-400050" algn="r" rtl="1">
              <a:lnSpc>
                <a:spcPct val="115000"/>
              </a:lnSpc>
              <a:spcAft>
                <a:spcPts val="1000"/>
              </a:spcAft>
              <a:buFont typeface="+mj-lt"/>
              <a:buAutoNum type="romanLcPeriod"/>
            </a:pP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Random</a:t>
            </a: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Forest</a:t>
            </a:r>
            <a:endParaRPr lang="ar-SY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857250" lvl="1" indent="-400050" algn="r" rtl="1">
              <a:lnSpc>
                <a:spcPct val="115000"/>
              </a:lnSpc>
              <a:spcAft>
                <a:spcPts val="1000"/>
              </a:spcAft>
              <a:buFont typeface="+mj-lt"/>
              <a:buAutoNum type="romanLcPeriod"/>
            </a:pP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Ensemble</a:t>
            </a: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Learning</a:t>
            </a:r>
            <a:endParaRPr lang="ar-SY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857250" lvl="1" indent="-400050" algn="r" rtl="1">
              <a:lnSpc>
                <a:spcPct val="115000"/>
              </a:lnSpc>
              <a:spcAft>
                <a:spcPts val="1000"/>
              </a:spcAft>
              <a:buFont typeface="+mj-lt"/>
              <a:buAutoNum type="romanLcPeriod"/>
            </a:pP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Neural</a:t>
            </a:r>
            <a:r>
              <a:rPr lang="ar-DZ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Network</a:t>
            </a:r>
            <a:endParaRPr lang="en-US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مربع نص 2">
            <a:extLst>
              <a:ext uri="{FF2B5EF4-FFF2-40B4-BE49-F238E27FC236}">
                <a16:creationId xmlns:a16="http://schemas.microsoft.com/office/drawing/2014/main" id="{5B024F29-831D-3604-B241-702DDA27A6A9}"/>
              </a:ext>
            </a:extLst>
          </p:cNvPr>
          <p:cNvSpPr txBox="1"/>
          <p:nvPr/>
        </p:nvSpPr>
        <p:spPr>
          <a:xfrm>
            <a:off x="611559" y="5371429"/>
            <a:ext cx="8189737" cy="115570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4</a:t>
            </a:r>
            <a:r>
              <a:rPr lang="ar-SY" b="1" dirty="0"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- </a:t>
            </a:r>
            <a:r>
              <a:rPr lang="ar-DZ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النتائج:</a:t>
            </a:r>
            <a:endParaRPr lang="en-US" sz="1800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lvl="1" algn="r" rtl="1">
              <a:lnSpc>
                <a:spcPct val="115000"/>
              </a:lnSpc>
              <a:spcAft>
                <a:spcPts val="1000"/>
              </a:spcAft>
            </a:pP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حققت خوارزمية </a:t>
            </a:r>
            <a:r>
              <a:rPr lang="ar-DZ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Ensemble</a:t>
            </a: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Learning</a:t>
            </a: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مع </a:t>
            </a:r>
            <a:r>
              <a:rPr lang="ar-DZ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Grid</a:t>
            </a: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ar-DZ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Search</a:t>
            </a: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وخوارزمية </a:t>
            </a:r>
            <a:r>
              <a:rPr lang="ar-DZ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Meta-Learning</a:t>
            </a:r>
            <a:r>
              <a:rPr lang="ar-DZ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أعلى دقة اختبار مذكورة، وهي 93%.</a:t>
            </a:r>
            <a:endParaRPr lang="en-US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78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6FE8F-8835-5F48-C2CC-E565F2D5F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C77C0-3E81-0626-18F8-DB0A9FCC6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637A-11D4-42A0-937C-45FCD8DF8B40}" type="slidenum">
              <a:rPr lang="en-US" smtClean="0"/>
              <a:t>16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9F57BE-A7DC-3BB4-4318-CFFDFACC2C05}"/>
              </a:ext>
            </a:extLst>
          </p:cNvPr>
          <p:cNvCxnSpPr>
            <a:cxnSpLocks/>
          </p:cNvCxnSpPr>
          <p:nvPr/>
        </p:nvCxnSpPr>
        <p:spPr>
          <a:xfrm flipH="1">
            <a:off x="323528" y="908720"/>
            <a:ext cx="856895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38173EF-9A5C-F73B-5EB4-BACDAD3AC8FF}"/>
              </a:ext>
            </a:extLst>
          </p:cNvPr>
          <p:cNvSpPr txBox="1"/>
          <p:nvPr/>
        </p:nvSpPr>
        <p:spPr>
          <a:xfrm>
            <a:off x="467544" y="260648"/>
            <a:ext cx="8371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v"/>
            </a:pP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قائمة المراجع ـــ </a:t>
            </a:r>
            <a:r>
              <a:rPr lang="en-US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List of References</a:t>
            </a:r>
            <a:r>
              <a:rPr lang="ar-SY" sz="2400" b="1" dirty="0">
                <a:solidFill>
                  <a:srgbClr val="002060"/>
                </a:solidFill>
                <a:latin typeface="Simplified Arabic" pitchFamily="18" charset="-78"/>
                <a:cs typeface="Simplified Arabic" pitchFamily="18" charset="-78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2C7084-4E1D-4B07-AA23-8302D92E2C54}"/>
              </a:ext>
            </a:extLst>
          </p:cNvPr>
          <p:cNvSpPr txBox="1"/>
          <p:nvPr/>
        </p:nvSpPr>
        <p:spPr>
          <a:xfrm>
            <a:off x="333038" y="1628800"/>
            <a:ext cx="81822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GB" sz="1800" dirty="0"/>
              <a:t>[1</a:t>
            </a:r>
            <a:r>
              <a:rPr lang="en-GB" dirty="0"/>
              <a:t>]   </a:t>
            </a:r>
            <a:r>
              <a:rPr lang="en-GB" sz="1800" dirty="0"/>
              <a:t>Xue, et al. 2026. "Rtcfake: Speech deepfake detection in real-time communication." </a:t>
            </a:r>
            <a:r>
              <a:rPr lang="en-GB" sz="1800" i="1" dirty="0"/>
              <a:t>ACL</a:t>
            </a:r>
            <a:r>
              <a:rPr lang="en-GB" sz="1800" dirty="0"/>
              <a:t>.</a:t>
            </a:r>
          </a:p>
          <a:p>
            <a:pPr algn="l" rtl="0"/>
            <a:endParaRPr lang="en-GB" sz="1800" dirty="0"/>
          </a:p>
          <a:p>
            <a:pPr algn="l" rtl="0"/>
            <a:r>
              <a:rPr lang="en-GB" sz="1800" dirty="0"/>
              <a:t>[2]   Murty, et al.2026.  "A hybrid deep learning framework for real and deepfake voice detection." </a:t>
            </a:r>
            <a:r>
              <a:rPr lang="en-GB" sz="1800" i="1" dirty="0"/>
              <a:t>Circuits, Systems, and Signal Processing.</a:t>
            </a:r>
          </a:p>
          <a:p>
            <a:pPr algn="l" rtl="0"/>
            <a:endParaRPr lang="en-GB" sz="1800" i="1" dirty="0"/>
          </a:p>
          <a:p>
            <a:pPr algn="l" rtl="0"/>
            <a:r>
              <a:rPr lang="en-GB" sz="1800" dirty="0"/>
              <a:t>[</a:t>
            </a:r>
            <a:r>
              <a:rPr lang="en-GB" dirty="0"/>
              <a:t>3]   </a:t>
            </a:r>
            <a:r>
              <a:rPr lang="en-GB" sz="1800" dirty="0" err="1"/>
              <a:t>waad</a:t>
            </a:r>
            <a:r>
              <a:rPr lang="en-GB" sz="1800" dirty="0"/>
              <a:t>, et al.</a:t>
            </a:r>
            <a:r>
              <a:rPr lang="en-US" sz="1800" dirty="0"/>
              <a:t>2024. </a:t>
            </a:r>
            <a:r>
              <a:rPr lang="en-GB" sz="1800" dirty="0"/>
              <a:t>"Real-Time Deepfake Detection for AI-Generated Arabic Speech." </a:t>
            </a:r>
            <a:r>
              <a:rPr lang="en-GB" sz="1800" i="1" dirty="0"/>
              <a:t>IEEE</a:t>
            </a:r>
            <a:r>
              <a:rPr lang="en-GB" sz="1800" dirty="0"/>
              <a:t>.</a:t>
            </a:r>
          </a:p>
          <a:p>
            <a:pPr algn="l" rtl="0"/>
            <a:endParaRPr lang="en-GB" sz="1800" dirty="0"/>
          </a:p>
          <a:p>
            <a:pPr algn="l" rtl="0"/>
            <a:r>
              <a:rPr lang="en-US" sz="1800" dirty="0"/>
              <a:t>[4</a:t>
            </a:r>
            <a:r>
              <a:rPr lang="en-US" dirty="0"/>
              <a:t>]   </a:t>
            </a:r>
            <a:r>
              <a:rPr lang="en-GB" sz="1800" dirty="0"/>
              <a:t>Nguyen et al.2023.”</a:t>
            </a:r>
            <a:r>
              <a:rPr lang="ar-SY" sz="1800" dirty="0">
                <a:solidFill>
                  <a:srgbClr val="FF0000"/>
                </a:solidFill>
              </a:rPr>
              <a:t>اسم المقالة</a:t>
            </a:r>
            <a:r>
              <a:rPr lang="en-GB" sz="1800" dirty="0"/>
              <a:t>” .Journal of Audio Engineering and Deep Learning.</a:t>
            </a:r>
            <a:endParaRPr lang="ar-OM" sz="1800" dirty="0"/>
          </a:p>
        </p:txBody>
      </p:sp>
    </p:spTree>
    <p:extLst>
      <p:ext uri="{BB962C8B-B14F-4D97-AF65-F5344CB8AC3E}">
        <p14:creationId xmlns:p14="http://schemas.microsoft.com/office/powerpoint/2010/main" val="139701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A2A1C-D59A-B7C4-30FD-0265C5759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D9E7512-0DFC-7579-E07B-CE56D9BEF029}"/>
              </a:ext>
            </a:extLst>
          </p:cNvPr>
          <p:cNvSpPr/>
          <p:nvPr/>
        </p:nvSpPr>
        <p:spPr>
          <a:xfrm>
            <a:off x="3738283" y="294669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ar-SY" sz="3600" dirty="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D79F78-D363-7719-E886-99BCAA53094F}"/>
              </a:ext>
            </a:extLst>
          </p:cNvPr>
          <p:cNvSpPr/>
          <p:nvPr/>
        </p:nvSpPr>
        <p:spPr>
          <a:xfrm>
            <a:off x="184569" y="1149183"/>
            <a:ext cx="87150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1"/>
            <a:endParaRPr lang="en-US" sz="2000" dirty="0">
              <a:cs typeface="+mj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5BA361-E260-DD42-BE95-B16E92B74350}"/>
              </a:ext>
            </a:extLst>
          </p:cNvPr>
          <p:cNvSpPr/>
          <p:nvPr/>
        </p:nvSpPr>
        <p:spPr>
          <a:xfrm>
            <a:off x="1085725" y="2492896"/>
            <a:ext cx="69127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5400" b="1" dirty="0">
                <a:latin typeface="Simplified Arabic" pitchFamily="18" charset="-78"/>
                <a:cs typeface="Simplified Arabic" pitchFamily="18" charset="-78"/>
              </a:rPr>
              <a:t>شكراً لحسن استماعكم</a:t>
            </a:r>
            <a:endParaRPr lang="ar-SY" sz="5400" b="1" dirty="0">
              <a:latin typeface="Simplified Arabic" pitchFamily="18" charset="-78"/>
              <a:cs typeface="Simplified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42965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4190</TotalTime>
  <Words>1489</Words>
  <Application>Microsoft Office PowerPoint</Application>
  <PresentationFormat>عرض على الشاشة (4:3)</PresentationFormat>
  <Paragraphs>166</Paragraphs>
  <Slides>17</Slides>
  <Notes>10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17</vt:i4>
      </vt:variant>
    </vt:vector>
  </HeadingPairs>
  <TitlesOfParts>
    <vt:vector size="24" baseType="lpstr">
      <vt:lpstr>Arial</vt:lpstr>
      <vt:lpstr>Calibri</vt:lpstr>
      <vt:lpstr>Century Gothic</vt:lpstr>
      <vt:lpstr>Google Sans Flex</vt:lpstr>
      <vt:lpstr>Simplified Arabic</vt:lpstr>
      <vt:lpstr>Wingdings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Enjoy My Fine Releases.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DR.Ahmed Saker 2o1O</dc:creator>
  <cp:lastModifiedBy>Hamza</cp:lastModifiedBy>
  <cp:revision>870</cp:revision>
  <dcterms:created xsi:type="dcterms:W3CDTF">2022-03-11T15:34:43Z</dcterms:created>
  <dcterms:modified xsi:type="dcterms:W3CDTF">2026-10-24T20:24:08Z</dcterms:modified>
</cp:coreProperties>
</file>